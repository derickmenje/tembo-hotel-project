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367346-216E-4CA3-8743-A4C296B9A3B8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6D36E6-DE21-4372-A951-551B02BFE820}">
      <dgm:prSet/>
      <dgm:spPr/>
      <dgm:t>
        <a:bodyPr/>
        <a:lstStyle/>
        <a:p>
          <a:r>
            <a:rPr lang="en-US"/>
            <a:t>Overall Performance Insight </a:t>
          </a:r>
        </a:p>
      </dgm:t>
    </dgm:pt>
    <dgm:pt modelId="{76C98761-56CB-415D-9E9B-88323DE2C2D6}" type="parTrans" cxnId="{2EA21589-6DB8-4F9E-9A55-BD69C61D76F0}">
      <dgm:prSet/>
      <dgm:spPr/>
      <dgm:t>
        <a:bodyPr/>
        <a:lstStyle/>
        <a:p>
          <a:endParaRPr lang="en-US"/>
        </a:p>
      </dgm:t>
    </dgm:pt>
    <dgm:pt modelId="{7012D773-9BC6-401D-A48A-2BC734FEB751}" type="sibTrans" cxnId="{2EA21589-6DB8-4F9E-9A55-BD69C61D76F0}">
      <dgm:prSet/>
      <dgm:spPr/>
      <dgm:t>
        <a:bodyPr/>
        <a:lstStyle/>
        <a:p>
          <a:endParaRPr lang="en-US"/>
        </a:p>
      </dgm:t>
    </dgm:pt>
    <dgm:pt modelId="{BB09677B-282C-4D16-B28C-2F66883A8AA6}">
      <dgm:prSet/>
      <dgm:spPr/>
      <dgm:t>
        <a:bodyPr/>
        <a:lstStyle/>
        <a:p>
          <a:r>
            <a:rPr lang="en-US" dirty="0"/>
            <a:t>Total revenue collected was 8.93 million </a:t>
          </a:r>
        </a:p>
      </dgm:t>
    </dgm:pt>
    <dgm:pt modelId="{F3BD1A3D-51B7-4162-BA9F-2D832084C03C}" type="parTrans" cxnId="{24EC7D5A-40BF-41BA-AB8B-51D6F6F17257}">
      <dgm:prSet/>
      <dgm:spPr/>
      <dgm:t>
        <a:bodyPr/>
        <a:lstStyle/>
        <a:p>
          <a:endParaRPr lang="en-US"/>
        </a:p>
      </dgm:t>
    </dgm:pt>
    <dgm:pt modelId="{5C1E059A-D6E2-42E9-B029-F61F505A0942}" type="sibTrans" cxnId="{24EC7D5A-40BF-41BA-AB8B-51D6F6F17257}">
      <dgm:prSet/>
      <dgm:spPr/>
      <dgm:t>
        <a:bodyPr/>
        <a:lstStyle/>
        <a:p>
          <a:endParaRPr lang="en-US"/>
        </a:p>
      </dgm:t>
    </dgm:pt>
    <dgm:pt modelId="{86B7EC63-0C4D-4C25-9D6C-B62606853639}">
      <dgm:prSet/>
      <dgm:spPr/>
      <dgm:t>
        <a:bodyPr/>
        <a:lstStyle/>
        <a:p>
          <a:r>
            <a:rPr lang="en-US" dirty="0"/>
            <a:t>Total bookings were 285</a:t>
          </a:r>
        </a:p>
      </dgm:t>
    </dgm:pt>
    <dgm:pt modelId="{51A60EC8-B9BC-4776-86A1-E79CED9489E7}" type="parTrans" cxnId="{D60BB459-F4AF-47E0-B2FF-6B1B7F0C58D0}">
      <dgm:prSet/>
      <dgm:spPr/>
      <dgm:t>
        <a:bodyPr/>
        <a:lstStyle/>
        <a:p>
          <a:endParaRPr lang="en-US"/>
        </a:p>
      </dgm:t>
    </dgm:pt>
    <dgm:pt modelId="{4A25B28C-415D-4C53-9E28-F52CD60E4663}" type="sibTrans" cxnId="{D60BB459-F4AF-47E0-B2FF-6B1B7F0C58D0}">
      <dgm:prSet/>
      <dgm:spPr/>
      <dgm:t>
        <a:bodyPr/>
        <a:lstStyle/>
        <a:p>
          <a:endParaRPr lang="en-US"/>
        </a:p>
      </dgm:t>
    </dgm:pt>
    <dgm:pt modelId="{0BC7DF71-97CD-49ED-819E-0B5B4997CA14}">
      <dgm:prSet/>
      <dgm:spPr/>
      <dgm:t>
        <a:bodyPr/>
        <a:lstStyle/>
        <a:p>
          <a:r>
            <a:rPr lang="en-US"/>
            <a:t>A significant amount,1.18 million ,was lost in revenue due to cancellations</a:t>
          </a:r>
        </a:p>
      </dgm:t>
    </dgm:pt>
    <dgm:pt modelId="{7FA51114-9917-4C85-B23C-8E83C881171A}" type="parTrans" cxnId="{F67C535E-4AB4-4009-884F-AEF8F2A690F9}">
      <dgm:prSet/>
      <dgm:spPr/>
      <dgm:t>
        <a:bodyPr/>
        <a:lstStyle/>
        <a:p>
          <a:endParaRPr lang="en-US"/>
        </a:p>
      </dgm:t>
    </dgm:pt>
    <dgm:pt modelId="{5FF032AD-6EAF-4D02-B370-2272B0972EAF}" type="sibTrans" cxnId="{F67C535E-4AB4-4009-884F-AEF8F2A690F9}">
      <dgm:prSet/>
      <dgm:spPr/>
      <dgm:t>
        <a:bodyPr/>
        <a:lstStyle/>
        <a:p>
          <a:endParaRPr lang="en-US"/>
        </a:p>
      </dgm:t>
    </dgm:pt>
    <dgm:pt modelId="{84F4F20B-5278-4662-A1F4-243F3FD01B20}">
      <dgm:prSet/>
      <dgm:spPr/>
      <dgm:t>
        <a:bodyPr/>
        <a:lstStyle/>
        <a:p>
          <a:r>
            <a:rPr lang="en-US" dirty="0"/>
            <a:t> a majority of the customers being return customers </a:t>
          </a:r>
        </a:p>
      </dgm:t>
    </dgm:pt>
    <dgm:pt modelId="{CFD51C72-AAA2-4471-96AA-E090BE76DB8F}" type="parTrans" cxnId="{1174D169-F46C-4826-ACA6-CD52FD0C1121}">
      <dgm:prSet/>
      <dgm:spPr/>
      <dgm:t>
        <a:bodyPr/>
        <a:lstStyle/>
        <a:p>
          <a:endParaRPr lang="en-US"/>
        </a:p>
      </dgm:t>
    </dgm:pt>
    <dgm:pt modelId="{B380F60F-80BB-4E68-9A84-FEF8D876FC28}" type="sibTrans" cxnId="{1174D169-F46C-4826-ACA6-CD52FD0C1121}">
      <dgm:prSet/>
      <dgm:spPr/>
      <dgm:t>
        <a:bodyPr/>
        <a:lstStyle/>
        <a:p>
          <a:endParaRPr lang="en-US"/>
        </a:p>
      </dgm:t>
    </dgm:pt>
    <dgm:pt modelId="{96EBB5E5-1520-494D-8317-DC4CEDD68FEB}" type="pres">
      <dgm:prSet presAssocID="{BB367346-216E-4CA3-8743-A4C296B9A3B8}" presName="linearFlow" presStyleCnt="0">
        <dgm:presLayoutVars>
          <dgm:dir/>
          <dgm:animLvl val="lvl"/>
          <dgm:resizeHandles val="exact"/>
        </dgm:presLayoutVars>
      </dgm:prSet>
      <dgm:spPr/>
    </dgm:pt>
    <dgm:pt modelId="{D5A26913-AFD7-418B-8E02-57D7BA82E274}" type="pres">
      <dgm:prSet presAssocID="{196D36E6-DE21-4372-A951-551B02BFE820}" presName="composite" presStyleCnt="0"/>
      <dgm:spPr/>
    </dgm:pt>
    <dgm:pt modelId="{65574425-0F3F-444A-A2A1-3E4441EC80EF}" type="pres">
      <dgm:prSet presAssocID="{196D36E6-DE21-4372-A951-551B02BFE820}" presName="parentText" presStyleLbl="alignNode1" presStyleIdx="0" presStyleCnt="1" custLinFactNeighborY="-533">
        <dgm:presLayoutVars>
          <dgm:chMax val="1"/>
          <dgm:bulletEnabled val="1"/>
        </dgm:presLayoutVars>
      </dgm:prSet>
      <dgm:spPr/>
    </dgm:pt>
    <dgm:pt modelId="{3940BA66-5887-41D9-B464-2A2CF88D02EF}" type="pres">
      <dgm:prSet presAssocID="{196D36E6-DE21-4372-A951-551B02BFE820}" presName="descendantText" presStyleLbl="alignAcc1" presStyleIdx="0" presStyleCnt="1" custLinFactNeighborY="-820">
        <dgm:presLayoutVars>
          <dgm:bulletEnabled val="1"/>
        </dgm:presLayoutVars>
      </dgm:prSet>
      <dgm:spPr/>
    </dgm:pt>
  </dgm:ptLst>
  <dgm:cxnLst>
    <dgm:cxn modelId="{63136A2C-6CD6-4A7C-91D9-21D85E4201D4}" type="presOf" srcId="{86B7EC63-0C4D-4C25-9D6C-B62606853639}" destId="{3940BA66-5887-41D9-B464-2A2CF88D02EF}" srcOrd="0" destOrd="1" presId="urn:microsoft.com/office/officeart/2005/8/layout/chevron2"/>
    <dgm:cxn modelId="{B5C3B22D-E51D-4518-8C1B-7A910392E061}" type="presOf" srcId="{196D36E6-DE21-4372-A951-551B02BFE820}" destId="{65574425-0F3F-444A-A2A1-3E4441EC80EF}" srcOrd="0" destOrd="0" presId="urn:microsoft.com/office/officeart/2005/8/layout/chevron2"/>
    <dgm:cxn modelId="{F67C535E-4AB4-4009-884F-AEF8F2A690F9}" srcId="{196D36E6-DE21-4372-A951-551B02BFE820}" destId="{0BC7DF71-97CD-49ED-819E-0B5B4997CA14}" srcOrd="2" destOrd="0" parTransId="{7FA51114-9917-4C85-B23C-8E83C881171A}" sibTransId="{5FF032AD-6EAF-4D02-B370-2272B0972EAF}"/>
    <dgm:cxn modelId="{1174D169-F46C-4826-ACA6-CD52FD0C1121}" srcId="{86B7EC63-0C4D-4C25-9D6C-B62606853639}" destId="{84F4F20B-5278-4662-A1F4-243F3FD01B20}" srcOrd="0" destOrd="0" parTransId="{CFD51C72-AAA2-4471-96AA-E090BE76DB8F}" sibTransId="{B380F60F-80BB-4E68-9A84-FEF8D876FC28}"/>
    <dgm:cxn modelId="{A382F176-CD33-4DF0-87FC-1FE67C69041F}" type="presOf" srcId="{0BC7DF71-97CD-49ED-819E-0B5B4997CA14}" destId="{3940BA66-5887-41D9-B464-2A2CF88D02EF}" srcOrd="0" destOrd="3" presId="urn:microsoft.com/office/officeart/2005/8/layout/chevron2"/>
    <dgm:cxn modelId="{D60BB459-F4AF-47E0-B2FF-6B1B7F0C58D0}" srcId="{196D36E6-DE21-4372-A951-551B02BFE820}" destId="{86B7EC63-0C4D-4C25-9D6C-B62606853639}" srcOrd="1" destOrd="0" parTransId="{51A60EC8-B9BC-4776-86A1-E79CED9489E7}" sibTransId="{4A25B28C-415D-4C53-9E28-F52CD60E4663}"/>
    <dgm:cxn modelId="{24EC7D5A-40BF-41BA-AB8B-51D6F6F17257}" srcId="{196D36E6-DE21-4372-A951-551B02BFE820}" destId="{BB09677B-282C-4D16-B28C-2F66883A8AA6}" srcOrd="0" destOrd="0" parTransId="{F3BD1A3D-51B7-4162-BA9F-2D832084C03C}" sibTransId="{5C1E059A-D6E2-42E9-B029-F61F505A0942}"/>
    <dgm:cxn modelId="{2EA21589-6DB8-4F9E-9A55-BD69C61D76F0}" srcId="{BB367346-216E-4CA3-8743-A4C296B9A3B8}" destId="{196D36E6-DE21-4372-A951-551B02BFE820}" srcOrd="0" destOrd="0" parTransId="{76C98761-56CB-415D-9E9B-88323DE2C2D6}" sibTransId="{7012D773-9BC6-401D-A48A-2BC734FEB751}"/>
    <dgm:cxn modelId="{95BC65A5-E3D8-4ECD-88EF-2BD289D068EE}" type="presOf" srcId="{BB367346-216E-4CA3-8743-A4C296B9A3B8}" destId="{96EBB5E5-1520-494D-8317-DC4CEDD68FEB}" srcOrd="0" destOrd="0" presId="urn:microsoft.com/office/officeart/2005/8/layout/chevron2"/>
    <dgm:cxn modelId="{FC8BC4CB-D058-4109-BB71-FD645E85F4AB}" type="presOf" srcId="{84F4F20B-5278-4662-A1F4-243F3FD01B20}" destId="{3940BA66-5887-41D9-B464-2A2CF88D02EF}" srcOrd="0" destOrd="2" presId="urn:microsoft.com/office/officeart/2005/8/layout/chevron2"/>
    <dgm:cxn modelId="{2CFEF5D3-3900-4444-B242-D9FE6CFC2FF0}" type="presOf" srcId="{BB09677B-282C-4D16-B28C-2F66883A8AA6}" destId="{3940BA66-5887-41D9-B464-2A2CF88D02EF}" srcOrd="0" destOrd="0" presId="urn:microsoft.com/office/officeart/2005/8/layout/chevron2"/>
    <dgm:cxn modelId="{56D32B24-061A-4043-BAB9-FF05EB8C1DAF}" type="presParOf" srcId="{96EBB5E5-1520-494D-8317-DC4CEDD68FEB}" destId="{D5A26913-AFD7-418B-8E02-57D7BA82E274}" srcOrd="0" destOrd="0" presId="urn:microsoft.com/office/officeart/2005/8/layout/chevron2"/>
    <dgm:cxn modelId="{DCBCBE40-B0F2-4F81-9EFB-F57DCAFCDD39}" type="presParOf" srcId="{D5A26913-AFD7-418B-8E02-57D7BA82E274}" destId="{65574425-0F3F-444A-A2A1-3E4441EC80EF}" srcOrd="0" destOrd="0" presId="urn:microsoft.com/office/officeart/2005/8/layout/chevron2"/>
    <dgm:cxn modelId="{712BAFE3-4278-4EB1-879F-59087C1EF49C}" type="presParOf" srcId="{D5A26913-AFD7-418B-8E02-57D7BA82E274}" destId="{3940BA66-5887-41D9-B464-2A2CF88D02E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ECA812-31EF-4506-B12F-182FB2570353}" type="doc">
      <dgm:prSet loTypeId="urn:microsoft.com/office/officeart/2005/8/layout/h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A0124FE-D053-48F0-AF79-B72D06E66C0D}">
      <dgm:prSet/>
      <dgm:spPr/>
      <dgm:t>
        <a:bodyPr/>
        <a:lstStyle/>
        <a:p>
          <a:r>
            <a:rPr lang="en-US" dirty="0"/>
            <a:t>Monthly revenue analysis:</a:t>
          </a:r>
        </a:p>
      </dgm:t>
    </dgm:pt>
    <dgm:pt modelId="{B40462F6-08BF-4401-8FC6-D23B5739217D}" type="parTrans" cxnId="{7B1AE315-0CA3-456C-AEFC-5AFADED7C218}">
      <dgm:prSet/>
      <dgm:spPr/>
      <dgm:t>
        <a:bodyPr/>
        <a:lstStyle/>
        <a:p>
          <a:endParaRPr lang="en-US"/>
        </a:p>
      </dgm:t>
    </dgm:pt>
    <dgm:pt modelId="{F8EBF0EA-01FD-4D36-BE4C-8441C12D1A98}" type="sibTrans" cxnId="{7B1AE315-0CA3-456C-AEFC-5AFADED7C218}">
      <dgm:prSet/>
      <dgm:spPr/>
      <dgm:t>
        <a:bodyPr/>
        <a:lstStyle/>
        <a:p>
          <a:endParaRPr lang="en-US"/>
        </a:p>
      </dgm:t>
    </dgm:pt>
    <dgm:pt modelId="{789629A4-4EAC-471E-9875-E31DA4B02F11}">
      <dgm:prSet/>
      <dgm:spPr/>
      <dgm:t>
        <a:bodyPr/>
        <a:lstStyle/>
        <a:p>
          <a:r>
            <a:rPr lang="en-US" dirty="0"/>
            <a:t>November was the strongest month at KES 973,100</a:t>
          </a:r>
        </a:p>
      </dgm:t>
    </dgm:pt>
    <dgm:pt modelId="{9AE550E8-4B61-4F62-BD20-6F0B267D14A9}" type="parTrans" cxnId="{11ABF18F-44F7-4816-8A3B-55E876FE9766}">
      <dgm:prSet/>
      <dgm:spPr/>
      <dgm:t>
        <a:bodyPr/>
        <a:lstStyle/>
        <a:p>
          <a:endParaRPr lang="en-US"/>
        </a:p>
      </dgm:t>
    </dgm:pt>
    <dgm:pt modelId="{DD6E5241-CDA7-4C92-A785-617D8EF9F3B6}" type="sibTrans" cxnId="{11ABF18F-44F7-4816-8A3B-55E876FE9766}">
      <dgm:prSet/>
      <dgm:spPr/>
      <dgm:t>
        <a:bodyPr/>
        <a:lstStyle/>
        <a:p>
          <a:endParaRPr lang="en-US"/>
        </a:p>
      </dgm:t>
    </dgm:pt>
    <dgm:pt modelId="{A0BAB685-6E9B-4E9C-B2EA-23C5ED959AE5}">
      <dgm:prSet/>
      <dgm:spPr/>
      <dgm:t>
        <a:bodyPr/>
        <a:lstStyle/>
        <a:p>
          <a:r>
            <a:rPr lang="en-US" dirty="0"/>
            <a:t>August recorded the lowest at KES 563,000</a:t>
          </a:r>
        </a:p>
      </dgm:t>
    </dgm:pt>
    <dgm:pt modelId="{9DFC0122-0A3E-4635-AC0A-DDCA274A5DD9}" type="parTrans" cxnId="{F139AE31-5AD0-4B6E-8B58-F3EB62170E55}">
      <dgm:prSet/>
      <dgm:spPr/>
      <dgm:t>
        <a:bodyPr/>
        <a:lstStyle/>
        <a:p>
          <a:endParaRPr lang="en-US"/>
        </a:p>
      </dgm:t>
    </dgm:pt>
    <dgm:pt modelId="{15C14508-F1A1-4BE2-BD8C-61BD78025976}" type="sibTrans" cxnId="{F139AE31-5AD0-4B6E-8B58-F3EB62170E55}">
      <dgm:prSet/>
      <dgm:spPr/>
      <dgm:t>
        <a:bodyPr/>
        <a:lstStyle/>
        <a:p>
          <a:endParaRPr lang="en-US"/>
        </a:p>
      </dgm:t>
    </dgm:pt>
    <dgm:pt modelId="{DF0B532D-E124-4EAC-B260-090F9123287C}" type="pres">
      <dgm:prSet presAssocID="{11ECA812-31EF-4506-B12F-182FB2570353}" presName="Name0" presStyleCnt="0">
        <dgm:presLayoutVars>
          <dgm:dir/>
          <dgm:animLvl val="lvl"/>
          <dgm:resizeHandles val="exact"/>
        </dgm:presLayoutVars>
      </dgm:prSet>
      <dgm:spPr/>
    </dgm:pt>
    <dgm:pt modelId="{20C48B15-02D2-4CC3-9BE2-7EB8C7A6FD71}" type="pres">
      <dgm:prSet presAssocID="{11ECA812-31EF-4506-B12F-182FB2570353}" presName="dummy" presStyleCnt="0"/>
      <dgm:spPr/>
    </dgm:pt>
    <dgm:pt modelId="{86DB19FF-187B-469E-B062-22A9F62B3C92}" type="pres">
      <dgm:prSet presAssocID="{11ECA812-31EF-4506-B12F-182FB2570353}" presName="linH" presStyleCnt="0"/>
      <dgm:spPr/>
    </dgm:pt>
    <dgm:pt modelId="{224C1B84-0210-4489-BD12-F32C1223DDDD}" type="pres">
      <dgm:prSet presAssocID="{11ECA812-31EF-4506-B12F-182FB2570353}" presName="padding1" presStyleCnt="0"/>
      <dgm:spPr/>
    </dgm:pt>
    <dgm:pt modelId="{3E0D9C6E-3DDC-4E26-B93C-C92245A274FA}" type="pres">
      <dgm:prSet presAssocID="{6A0124FE-D053-48F0-AF79-B72D06E66C0D}" presName="linV" presStyleCnt="0"/>
      <dgm:spPr/>
    </dgm:pt>
    <dgm:pt modelId="{8D7416DE-7113-405F-842F-F8BE3F1E71FD}" type="pres">
      <dgm:prSet presAssocID="{6A0124FE-D053-48F0-AF79-B72D06E66C0D}" presName="spVertical1" presStyleCnt="0"/>
      <dgm:spPr/>
    </dgm:pt>
    <dgm:pt modelId="{59DD4369-F0D4-47F2-B3D6-2F5B18FA43AE}" type="pres">
      <dgm:prSet presAssocID="{6A0124FE-D053-48F0-AF79-B72D06E66C0D}" presName="parTx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044091DC-FF79-4857-AB22-7FBEE714C8C8}" type="pres">
      <dgm:prSet presAssocID="{6A0124FE-D053-48F0-AF79-B72D06E66C0D}" presName="spVertical2" presStyleCnt="0"/>
      <dgm:spPr/>
    </dgm:pt>
    <dgm:pt modelId="{068A74BE-AD82-49BE-AFB9-68E8909DAE83}" type="pres">
      <dgm:prSet presAssocID="{6A0124FE-D053-48F0-AF79-B72D06E66C0D}" presName="spVertical3" presStyleCnt="0"/>
      <dgm:spPr/>
    </dgm:pt>
    <dgm:pt modelId="{51E524D1-3C71-451B-B250-4CC0FFB39B94}" type="pres">
      <dgm:prSet presAssocID="{6A0124FE-D053-48F0-AF79-B72D06E66C0D}" presName="desTx" presStyleLbl="revTx" presStyleIdx="1" presStyleCnt="2">
        <dgm:presLayoutVars>
          <dgm:bulletEnabled val="1"/>
        </dgm:presLayoutVars>
      </dgm:prSet>
      <dgm:spPr/>
    </dgm:pt>
    <dgm:pt modelId="{D310071B-22A7-4279-8626-9D42306B6403}" type="pres">
      <dgm:prSet presAssocID="{11ECA812-31EF-4506-B12F-182FB2570353}" presName="padding2" presStyleCnt="0"/>
      <dgm:spPr/>
    </dgm:pt>
    <dgm:pt modelId="{74B4B108-2CF8-4CC8-96F8-2AAD98DA75EF}" type="pres">
      <dgm:prSet presAssocID="{11ECA812-31EF-4506-B12F-182FB2570353}" presName="negArrow" presStyleCnt="0"/>
      <dgm:spPr/>
    </dgm:pt>
    <dgm:pt modelId="{39956ED0-D026-4ECF-ACEE-88DB1E113AE9}" type="pres">
      <dgm:prSet presAssocID="{11ECA812-31EF-4506-B12F-182FB2570353}" presName="backgroundArrow" presStyleLbl="node1" presStyleIdx="0" presStyleCnt="1"/>
      <dgm:spPr/>
    </dgm:pt>
  </dgm:ptLst>
  <dgm:cxnLst>
    <dgm:cxn modelId="{7B1AE315-0CA3-456C-AEFC-5AFADED7C218}" srcId="{11ECA812-31EF-4506-B12F-182FB2570353}" destId="{6A0124FE-D053-48F0-AF79-B72D06E66C0D}" srcOrd="0" destOrd="0" parTransId="{B40462F6-08BF-4401-8FC6-D23B5739217D}" sibTransId="{F8EBF0EA-01FD-4D36-BE4C-8441C12D1A98}"/>
    <dgm:cxn modelId="{F139AE31-5AD0-4B6E-8B58-F3EB62170E55}" srcId="{6A0124FE-D053-48F0-AF79-B72D06E66C0D}" destId="{A0BAB685-6E9B-4E9C-B2EA-23C5ED959AE5}" srcOrd="1" destOrd="0" parTransId="{9DFC0122-0A3E-4635-AC0A-DDCA274A5DD9}" sibTransId="{15C14508-F1A1-4BE2-BD8C-61BD78025976}"/>
    <dgm:cxn modelId="{11ABF18F-44F7-4816-8A3B-55E876FE9766}" srcId="{6A0124FE-D053-48F0-AF79-B72D06E66C0D}" destId="{789629A4-4EAC-471E-9875-E31DA4B02F11}" srcOrd="0" destOrd="0" parTransId="{9AE550E8-4B61-4F62-BD20-6F0B267D14A9}" sibTransId="{DD6E5241-CDA7-4C92-A785-617D8EF9F3B6}"/>
    <dgm:cxn modelId="{B186DC94-2808-4E8C-A2EB-6688BF3E36EA}" type="presOf" srcId="{789629A4-4EAC-471E-9875-E31DA4B02F11}" destId="{51E524D1-3C71-451B-B250-4CC0FFB39B94}" srcOrd="0" destOrd="0" presId="urn:microsoft.com/office/officeart/2005/8/layout/hProcess3"/>
    <dgm:cxn modelId="{DCCB5CB2-2550-485F-920C-D44DEE18DF19}" type="presOf" srcId="{A0BAB685-6E9B-4E9C-B2EA-23C5ED959AE5}" destId="{51E524D1-3C71-451B-B250-4CC0FFB39B94}" srcOrd="0" destOrd="1" presId="urn:microsoft.com/office/officeart/2005/8/layout/hProcess3"/>
    <dgm:cxn modelId="{66D6E3EF-CB0C-47B3-9ECB-945583390461}" type="presOf" srcId="{11ECA812-31EF-4506-B12F-182FB2570353}" destId="{DF0B532D-E124-4EAC-B260-090F9123287C}" srcOrd="0" destOrd="0" presId="urn:microsoft.com/office/officeart/2005/8/layout/hProcess3"/>
    <dgm:cxn modelId="{02C12FF0-FFEC-427B-A977-ADF90059D169}" type="presOf" srcId="{6A0124FE-D053-48F0-AF79-B72D06E66C0D}" destId="{59DD4369-F0D4-47F2-B3D6-2F5B18FA43AE}" srcOrd="0" destOrd="0" presId="urn:microsoft.com/office/officeart/2005/8/layout/hProcess3"/>
    <dgm:cxn modelId="{96403C9C-32B4-4BF7-9480-82BA27051A34}" type="presParOf" srcId="{DF0B532D-E124-4EAC-B260-090F9123287C}" destId="{20C48B15-02D2-4CC3-9BE2-7EB8C7A6FD71}" srcOrd="0" destOrd="0" presId="urn:microsoft.com/office/officeart/2005/8/layout/hProcess3"/>
    <dgm:cxn modelId="{4EA0E882-85D3-4608-AC12-999732011331}" type="presParOf" srcId="{DF0B532D-E124-4EAC-B260-090F9123287C}" destId="{86DB19FF-187B-469E-B062-22A9F62B3C92}" srcOrd="1" destOrd="0" presId="urn:microsoft.com/office/officeart/2005/8/layout/hProcess3"/>
    <dgm:cxn modelId="{84A0CA77-7D3C-47C1-ACC9-3D3A6375C6DB}" type="presParOf" srcId="{86DB19FF-187B-469E-B062-22A9F62B3C92}" destId="{224C1B84-0210-4489-BD12-F32C1223DDDD}" srcOrd="0" destOrd="0" presId="urn:microsoft.com/office/officeart/2005/8/layout/hProcess3"/>
    <dgm:cxn modelId="{629B7C4C-B391-4611-BD25-966EDD4A9643}" type="presParOf" srcId="{86DB19FF-187B-469E-B062-22A9F62B3C92}" destId="{3E0D9C6E-3DDC-4E26-B93C-C92245A274FA}" srcOrd="1" destOrd="0" presId="urn:microsoft.com/office/officeart/2005/8/layout/hProcess3"/>
    <dgm:cxn modelId="{32C5301C-22FF-4AC9-A559-7197A9EBF4C0}" type="presParOf" srcId="{3E0D9C6E-3DDC-4E26-B93C-C92245A274FA}" destId="{8D7416DE-7113-405F-842F-F8BE3F1E71FD}" srcOrd="0" destOrd="0" presId="urn:microsoft.com/office/officeart/2005/8/layout/hProcess3"/>
    <dgm:cxn modelId="{D4D82D7E-428F-4459-ABAC-D5461E78DD6D}" type="presParOf" srcId="{3E0D9C6E-3DDC-4E26-B93C-C92245A274FA}" destId="{59DD4369-F0D4-47F2-B3D6-2F5B18FA43AE}" srcOrd="1" destOrd="0" presId="urn:microsoft.com/office/officeart/2005/8/layout/hProcess3"/>
    <dgm:cxn modelId="{AFA869EA-EAD4-4FC5-9A5C-00651E5A0B09}" type="presParOf" srcId="{3E0D9C6E-3DDC-4E26-B93C-C92245A274FA}" destId="{044091DC-FF79-4857-AB22-7FBEE714C8C8}" srcOrd="2" destOrd="0" presId="urn:microsoft.com/office/officeart/2005/8/layout/hProcess3"/>
    <dgm:cxn modelId="{CE60A1EE-BC12-4E18-BFE8-6DB2F9A62E4B}" type="presParOf" srcId="{3E0D9C6E-3DDC-4E26-B93C-C92245A274FA}" destId="{068A74BE-AD82-49BE-AFB9-68E8909DAE83}" srcOrd="3" destOrd="0" presId="urn:microsoft.com/office/officeart/2005/8/layout/hProcess3"/>
    <dgm:cxn modelId="{5F604010-0520-4C8E-B80C-6F871F7CB9EC}" type="presParOf" srcId="{3E0D9C6E-3DDC-4E26-B93C-C92245A274FA}" destId="{51E524D1-3C71-451B-B250-4CC0FFB39B94}" srcOrd="4" destOrd="0" presId="urn:microsoft.com/office/officeart/2005/8/layout/hProcess3"/>
    <dgm:cxn modelId="{F791CFE7-9BC0-4C53-B702-7196395A3F1E}" type="presParOf" srcId="{86DB19FF-187B-469E-B062-22A9F62B3C92}" destId="{D310071B-22A7-4279-8626-9D42306B6403}" srcOrd="2" destOrd="0" presId="urn:microsoft.com/office/officeart/2005/8/layout/hProcess3"/>
    <dgm:cxn modelId="{1F3BC0B8-6376-452F-BE6D-321352DB223C}" type="presParOf" srcId="{86DB19FF-187B-469E-B062-22A9F62B3C92}" destId="{74B4B108-2CF8-4CC8-96F8-2AAD98DA75EF}" srcOrd="3" destOrd="0" presId="urn:microsoft.com/office/officeart/2005/8/layout/hProcess3"/>
    <dgm:cxn modelId="{A30DC005-1A0D-49E7-965A-6ED4D81350EC}" type="presParOf" srcId="{86DB19FF-187B-469E-B062-22A9F62B3C92}" destId="{39956ED0-D026-4ECF-ACEE-88DB1E113AE9}" srcOrd="4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4A5FEE4-735D-4CAC-9B48-6CF5DA5F5AAA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6010302-FEA5-4221-B64F-09DF20E39434}">
      <dgm:prSet/>
      <dgm:spPr/>
      <dgm:t>
        <a:bodyPr/>
        <a:lstStyle/>
        <a:p>
          <a:r>
            <a:rPr lang="en-US"/>
            <a:t>Booking analysis – Room preference by booking</a:t>
          </a:r>
        </a:p>
      </dgm:t>
    </dgm:pt>
    <dgm:pt modelId="{127B84E6-2E62-4F1F-8E8A-FD5015B93C6A}" type="parTrans" cxnId="{D30A48F9-6B58-4248-B43E-476649E9A822}">
      <dgm:prSet/>
      <dgm:spPr/>
      <dgm:t>
        <a:bodyPr/>
        <a:lstStyle/>
        <a:p>
          <a:endParaRPr lang="en-US"/>
        </a:p>
      </dgm:t>
    </dgm:pt>
    <dgm:pt modelId="{76DB2192-CCB7-4F14-AC0A-C73D284FA904}" type="sibTrans" cxnId="{D30A48F9-6B58-4248-B43E-476649E9A822}">
      <dgm:prSet/>
      <dgm:spPr/>
      <dgm:t>
        <a:bodyPr/>
        <a:lstStyle/>
        <a:p>
          <a:endParaRPr lang="en-US"/>
        </a:p>
      </dgm:t>
    </dgm:pt>
    <dgm:pt modelId="{B89E0260-DAB0-49E2-9FB7-338F005F7621}">
      <dgm:prSet/>
      <dgm:spPr/>
      <dgm:t>
        <a:bodyPr/>
        <a:lstStyle/>
        <a:p>
          <a:r>
            <a:rPr lang="en-US"/>
            <a:t>Standard: (40%) - Most popular</a:t>
          </a:r>
        </a:p>
      </dgm:t>
    </dgm:pt>
    <dgm:pt modelId="{57E15446-4E38-4AA3-8712-7CD52C06FA64}" type="parTrans" cxnId="{2F0A74CE-D412-4CE2-9E50-6FB9193B4829}">
      <dgm:prSet/>
      <dgm:spPr/>
      <dgm:t>
        <a:bodyPr/>
        <a:lstStyle/>
        <a:p>
          <a:endParaRPr lang="en-US"/>
        </a:p>
      </dgm:t>
    </dgm:pt>
    <dgm:pt modelId="{6F53F8EF-DF55-4508-9178-54DE5A531FFB}" type="sibTrans" cxnId="{2F0A74CE-D412-4CE2-9E50-6FB9193B4829}">
      <dgm:prSet/>
      <dgm:spPr/>
      <dgm:t>
        <a:bodyPr/>
        <a:lstStyle/>
        <a:p>
          <a:endParaRPr lang="en-US"/>
        </a:p>
      </dgm:t>
    </dgm:pt>
    <dgm:pt modelId="{8616713F-E72E-44D9-8165-BAC5B0E293D1}">
      <dgm:prSet/>
      <dgm:spPr/>
      <dgm:t>
        <a:bodyPr/>
        <a:lstStyle/>
        <a:p>
          <a:r>
            <a:rPr lang="en-US"/>
            <a:t>Deluxe: (31.6%)</a:t>
          </a:r>
        </a:p>
      </dgm:t>
    </dgm:pt>
    <dgm:pt modelId="{D3A3125E-C67D-4953-B927-3D05643E3FF1}" type="parTrans" cxnId="{995F9B47-0997-489F-A8D1-9C7E1BF0597C}">
      <dgm:prSet/>
      <dgm:spPr/>
      <dgm:t>
        <a:bodyPr/>
        <a:lstStyle/>
        <a:p>
          <a:endParaRPr lang="en-US"/>
        </a:p>
      </dgm:t>
    </dgm:pt>
    <dgm:pt modelId="{69F779C7-B67F-41CA-8BA3-53081E20CFDB}" type="sibTrans" cxnId="{995F9B47-0997-489F-A8D1-9C7E1BF0597C}">
      <dgm:prSet/>
      <dgm:spPr/>
      <dgm:t>
        <a:bodyPr/>
        <a:lstStyle/>
        <a:p>
          <a:endParaRPr lang="en-US"/>
        </a:p>
      </dgm:t>
    </dgm:pt>
    <dgm:pt modelId="{F6918DB2-3BA4-4323-9F68-F9F355DAFF93}">
      <dgm:prSet/>
      <dgm:spPr/>
      <dgm:t>
        <a:bodyPr/>
        <a:lstStyle/>
        <a:p>
          <a:r>
            <a:rPr lang="en-US"/>
            <a:t>Suite: (19.7%)</a:t>
          </a:r>
        </a:p>
      </dgm:t>
    </dgm:pt>
    <dgm:pt modelId="{B4B3779E-370E-42F9-BC30-5B0765539A55}" type="parTrans" cxnId="{6B1CA50C-A523-4E55-853F-B9E6B0C1D5F9}">
      <dgm:prSet/>
      <dgm:spPr/>
      <dgm:t>
        <a:bodyPr/>
        <a:lstStyle/>
        <a:p>
          <a:endParaRPr lang="en-US"/>
        </a:p>
      </dgm:t>
    </dgm:pt>
    <dgm:pt modelId="{67AC98CB-E8F5-4FB0-9160-240B1747C821}" type="sibTrans" cxnId="{6B1CA50C-A523-4E55-853F-B9E6B0C1D5F9}">
      <dgm:prSet/>
      <dgm:spPr/>
      <dgm:t>
        <a:bodyPr/>
        <a:lstStyle/>
        <a:p>
          <a:endParaRPr lang="en-US"/>
        </a:p>
      </dgm:t>
    </dgm:pt>
    <dgm:pt modelId="{F47E6C91-E156-49F4-AF52-0B8AD5D40B43}">
      <dgm:prSet/>
      <dgm:spPr/>
      <dgm:t>
        <a:bodyPr/>
        <a:lstStyle/>
        <a:p>
          <a:r>
            <a:rPr lang="en-US"/>
            <a:t>Penthouse: (8.8%)</a:t>
          </a:r>
        </a:p>
      </dgm:t>
    </dgm:pt>
    <dgm:pt modelId="{E2EB1D97-D9A4-416D-9218-9840CD4A5D4A}" type="parTrans" cxnId="{ECEA0D23-81D9-4B42-AD73-07BCBEE1F757}">
      <dgm:prSet/>
      <dgm:spPr/>
      <dgm:t>
        <a:bodyPr/>
        <a:lstStyle/>
        <a:p>
          <a:endParaRPr lang="en-US"/>
        </a:p>
      </dgm:t>
    </dgm:pt>
    <dgm:pt modelId="{40875F35-74EC-461E-AC8A-A6E23830E8E8}" type="sibTrans" cxnId="{ECEA0D23-81D9-4B42-AD73-07BCBEE1F757}">
      <dgm:prSet/>
      <dgm:spPr/>
      <dgm:t>
        <a:bodyPr/>
        <a:lstStyle/>
        <a:p>
          <a:endParaRPr lang="en-US"/>
        </a:p>
      </dgm:t>
    </dgm:pt>
    <dgm:pt modelId="{A51DF822-4FDF-4FA1-992F-3C59E25CB80A}" type="pres">
      <dgm:prSet presAssocID="{24A5FEE4-735D-4CAC-9B48-6CF5DA5F5AAA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469B5638-4A9B-4873-8422-A33A301038A1}" type="pres">
      <dgm:prSet presAssocID="{16010302-FEA5-4221-B64F-09DF20E39434}" presName="horFlow" presStyleCnt="0"/>
      <dgm:spPr/>
    </dgm:pt>
    <dgm:pt modelId="{476EF688-34DA-4C81-9A73-A18667FF9720}" type="pres">
      <dgm:prSet presAssocID="{16010302-FEA5-4221-B64F-09DF20E39434}" presName="bigChev" presStyleLbl="node1" presStyleIdx="0" presStyleCnt="1" custLinFactNeighborX="-385" custLinFactNeighborY="-66925"/>
      <dgm:spPr/>
    </dgm:pt>
    <dgm:pt modelId="{EE62DA95-D7C9-4E3F-AFA9-BC66D69929C2}" type="pres">
      <dgm:prSet presAssocID="{57E15446-4E38-4AA3-8712-7CD52C06FA64}" presName="parTrans" presStyleCnt="0"/>
      <dgm:spPr/>
    </dgm:pt>
    <dgm:pt modelId="{40CF9C7D-F2B6-44CE-91E4-6B1E5B0AEECB}" type="pres">
      <dgm:prSet presAssocID="{B89E0260-DAB0-49E2-9FB7-338F005F7621}" presName="node" presStyleLbl="alignAccFollowNode1" presStyleIdx="0" presStyleCnt="4" custLinFactNeighborY="-90868">
        <dgm:presLayoutVars>
          <dgm:bulletEnabled val="1"/>
        </dgm:presLayoutVars>
      </dgm:prSet>
      <dgm:spPr/>
    </dgm:pt>
    <dgm:pt modelId="{1024C056-C806-4EC8-8083-3B9BF247E002}" type="pres">
      <dgm:prSet presAssocID="{6F53F8EF-DF55-4508-9178-54DE5A531FFB}" presName="sibTrans" presStyleCnt="0"/>
      <dgm:spPr/>
    </dgm:pt>
    <dgm:pt modelId="{1AF66CA1-0569-4ED8-8AC7-32782A053076}" type="pres">
      <dgm:prSet presAssocID="{8616713F-E72E-44D9-8165-BAC5B0E293D1}" presName="node" presStyleLbl="alignAccFollowNode1" presStyleIdx="1" presStyleCnt="4" custLinFactNeighborY="-90868">
        <dgm:presLayoutVars>
          <dgm:bulletEnabled val="1"/>
        </dgm:presLayoutVars>
      </dgm:prSet>
      <dgm:spPr/>
    </dgm:pt>
    <dgm:pt modelId="{6265FC83-62BB-4286-A1F8-0E0BE2F98868}" type="pres">
      <dgm:prSet presAssocID="{69F779C7-B67F-41CA-8BA3-53081E20CFDB}" presName="sibTrans" presStyleCnt="0"/>
      <dgm:spPr/>
    </dgm:pt>
    <dgm:pt modelId="{703FAB98-EB09-4A54-BA44-A2D5B88E02A2}" type="pres">
      <dgm:prSet presAssocID="{F6918DB2-3BA4-4323-9F68-F9F355DAFF93}" presName="node" presStyleLbl="alignAccFollowNode1" presStyleIdx="2" presStyleCnt="4" custLinFactNeighborY="-90868">
        <dgm:presLayoutVars>
          <dgm:bulletEnabled val="1"/>
        </dgm:presLayoutVars>
      </dgm:prSet>
      <dgm:spPr/>
    </dgm:pt>
    <dgm:pt modelId="{3F4477C8-D42B-41BD-A9D4-11CBFE4ABDB2}" type="pres">
      <dgm:prSet presAssocID="{67AC98CB-E8F5-4FB0-9160-240B1747C821}" presName="sibTrans" presStyleCnt="0"/>
      <dgm:spPr/>
    </dgm:pt>
    <dgm:pt modelId="{3D4AEA67-89C6-43F9-9500-8741ACBC4170}" type="pres">
      <dgm:prSet presAssocID="{F47E6C91-E156-49F4-AF52-0B8AD5D40B43}" presName="node" presStyleLbl="alignAccFollowNode1" presStyleIdx="3" presStyleCnt="4" custLinFactNeighborX="-5700" custLinFactNeighborY="-90868">
        <dgm:presLayoutVars>
          <dgm:bulletEnabled val="1"/>
        </dgm:presLayoutVars>
      </dgm:prSet>
      <dgm:spPr/>
    </dgm:pt>
  </dgm:ptLst>
  <dgm:cxnLst>
    <dgm:cxn modelId="{6B1CA50C-A523-4E55-853F-B9E6B0C1D5F9}" srcId="{16010302-FEA5-4221-B64F-09DF20E39434}" destId="{F6918DB2-3BA4-4323-9F68-F9F355DAFF93}" srcOrd="2" destOrd="0" parTransId="{B4B3779E-370E-42F9-BC30-5B0765539A55}" sibTransId="{67AC98CB-E8F5-4FB0-9160-240B1747C821}"/>
    <dgm:cxn modelId="{ECEA0D23-81D9-4B42-AD73-07BCBEE1F757}" srcId="{16010302-FEA5-4221-B64F-09DF20E39434}" destId="{F47E6C91-E156-49F4-AF52-0B8AD5D40B43}" srcOrd="3" destOrd="0" parTransId="{E2EB1D97-D9A4-416D-9218-9840CD4A5D4A}" sibTransId="{40875F35-74EC-461E-AC8A-A6E23830E8E8}"/>
    <dgm:cxn modelId="{9805A536-ADCD-4D17-AA05-6BB82EB4F4C6}" type="presOf" srcId="{16010302-FEA5-4221-B64F-09DF20E39434}" destId="{476EF688-34DA-4C81-9A73-A18667FF9720}" srcOrd="0" destOrd="0" presId="urn:microsoft.com/office/officeart/2005/8/layout/lProcess3"/>
    <dgm:cxn modelId="{995F9B47-0997-489F-A8D1-9C7E1BF0597C}" srcId="{16010302-FEA5-4221-B64F-09DF20E39434}" destId="{8616713F-E72E-44D9-8165-BAC5B0E293D1}" srcOrd="1" destOrd="0" parTransId="{D3A3125E-C67D-4953-B927-3D05643E3FF1}" sibTransId="{69F779C7-B67F-41CA-8BA3-53081E20CFDB}"/>
    <dgm:cxn modelId="{BCCD0877-DC0B-4D57-A0F1-A7C005982F04}" type="presOf" srcId="{F47E6C91-E156-49F4-AF52-0B8AD5D40B43}" destId="{3D4AEA67-89C6-43F9-9500-8741ACBC4170}" srcOrd="0" destOrd="0" presId="urn:microsoft.com/office/officeart/2005/8/layout/lProcess3"/>
    <dgm:cxn modelId="{03290491-87DA-4FED-971E-B69B76759261}" type="presOf" srcId="{8616713F-E72E-44D9-8165-BAC5B0E293D1}" destId="{1AF66CA1-0569-4ED8-8AC7-32782A053076}" srcOrd="0" destOrd="0" presId="urn:microsoft.com/office/officeart/2005/8/layout/lProcess3"/>
    <dgm:cxn modelId="{E7207AA5-4D22-4890-BB66-103E40EBF1D4}" type="presOf" srcId="{24A5FEE4-735D-4CAC-9B48-6CF5DA5F5AAA}" destId="{A51DF822-4FDF-4FA1-992F-3C59E25CB80A}" srcOrd="0" destOrd="0" presId="urn:microsoft.com/office/officeart/2005/8/layout/lProcess3"/>
    <dgm:cxn modelId="{2F0A74CE-D412-4CE2-9E50-6FB9193B4829}" srcId="{16010302-FEA5-4221-B64F-09DF20E39434}" destId="{B89E0260-DAB0-49E2-9FB7-338F005F7621}" srcOrd="0" destOrd="0" parTransId="{57E15446-4E38-4AA3-8712-7CD52C06FA64}" sibTransId="{6F53F8EF-DF55-4508-9178-54DE5A531FFB}"/>
    <dgm:cxn modelId="{1722CAE5-5FBA-4521-9894-E2B5498A987B}" type="presOf" srcId="{F6918DB2-3BA4-4323-9F68-F9F355DAFF93}" destId="{703FAB98-EB09-4A54-BA44-A2D5B88E02A2}" srcOrd="0" destOrd="0" presId="urn:microsoft.com/office/officeart/2005/8/layout/lProcess3"/>
    <dgm:cxn modelId="{D30A48F9-6B58-4248-B43E-476649E9A822}" srcId="{24A5FEE4-735D-4CAC-9B48-6CF5DA5F5AAA}" destId="{16010302-FEA5-4221-B64F-09DF20E39434}" srcOrd="0" destOrd="0" parTransId="{127B84E6-2E62-4F1F-8E8A-FD5015B93C6A}" sibTransId="{76DB2192-CCB7-4F14-AC0A-C73D284FA904}"/>
    <dgm:cxn modelId="{72CAFFFE-A669-4E6E-9A26-96CEBDBCC60C}" type="presOf" srcId="{B89E0260-DAB0-49E2-9FB7-338F005F7621}" destId="{40CF9C7D-F2B6-44CE-91E4-6B1E5B0AEECB}" srcOrd="0" destOrd="0" presId="urn:microsoft.com/office/officeart/2005/8/layout/lProcess3"/>
    <dgm:cxn modelId="{844D7DB9-DAD1-43DA-AFB1-4415B0D43B64}" type="presParOf" srcId="{A51DF822-4FDF-4FA1-992F-3C59E25CB80A}" destId="{469B5638-4A9B-4873-8422-A33A301038A1}" srcOrd="0" destOrd="0" presId="urn:microsoft.com/office/officeart/2005/8/layout/lProcess3"/>
    <dgm:cxn modelId="{2B83BD1D-C50A-4B0F-B8B8-7C2F102CFF95}" type="presParOf" srcId="{469B5638-4A9B-4873-8422-A33A301038A1}" destId="{476EF688-34DA-4C81-9A73-A18667FF9720}" srcOrd="0" destOrd="0" presId="urn:microsoft.com/office/officeart/2005/8/layout/lProcess3"/>
    <dgm:cxn modelId="{212832B3-B591-4107-A9A6-AC3CFDD6E151}" type="presParOf" srcId="{469B5638-4A9B-4873-8422-A33A301038A1}" destId="{EE62DA95-D7C9-4E3F-AFA9-BC66D69929C2}" srcOrd="1" destOrd="0" presId="urn:microsoft.com/office/officeart/2005/8/layout/lProcess3"/>
    <dgm:cxn modelId="{A83A2E35-76B1-46F5-A755-DEE1FCBA5884}" type="presParOf" srcId="{469B5638-4A9B-4873-8422-A33A301038A1}" destId="{40CF9C7D-F2B6-44CE-91E4-6B1E5B0AEECB}" srcOrd="2" destOrd="0" presId="urn:microsoft.com/office/officeart/2005/8/layout/lProcess3"/>
    <dgm:cxn modelId="{05CD3228-B2C5-4501-87DD-D73DE2B188E3}" type="presParOf" srcId="{469B5638-4A9B-4873-8422-A33A301038A1}" destId="{1024C056-C806-4EC8-8083-3B9BF247E002}" srcOrd="3" destOrd="0" presId="urn:microsoft.com/office/officeart/2005/8/layout/lProcess3"/>
    <dgm:cxn modelId="{01F16A6F-9DD3-4C3D-94E0-A4874EA9F554}" type="presParOf" srcId="{469B5638-4A9B-4873-8422-A33A301038A1}" destId="{1AF66CA1-0569-4ED8-8AC7-32782A053076}" srcOrd="4" destOrd="0" presId="urn:microsoft.com/office/officeart/2005/8/layout/lProcess3"/>
    <dgm:cxn modelId="{DDC0F1D8-E89A-42A5-B9BD-340588E043CF}" type="presParOf" srcId="{469B5638-4A9B-4873-8422-A33A301038A1}" destId="{6265FC83-62BB-4286-A1F8-0E0BE2F98868}" srcOrd="5" destOrd="0" presId="urn:microsoft.com/office/officeart/2005/8/layout/lProcess3"/>
    <dgm:cxn modelId="{3044B710-4A5D-4181-AA87-425492B0B3DF}" type="presParOf" srcId="{469B5638-4A9B-4873-8422-A33A301038A1}" destId="{703FAB98-EB09-4A54-BA44-A2D5B88E02A2}" srcOrd="6" destOrd="0" presId="urn:microsoft.com/office/officeart/2005/8/layout/lProcess3"/>
    <dgm:cxn modelId="{2625F6C3-C723-4771-B6B6-E5CDB12C4100}" type="presParOf" srcId="{469B5638-4A9B-4873-8422-A33A301038A1}" destId="{3F4477C8-D42B-41BD-A9D4-11CBFE4ABDB2}" srcOrd="7" destOrd="0" presId="urn:microsoft.com/office/officeart/2005/8/layout/lProcess3"/>
    <dgm:cxn modelId="{15C1EC15-8628-4F0C-BA4B-C4CC81F8A553}" type="presParOf" srcId="{469B5638-4A9B-4873-8422-A33A301038A1}" destId="{3D4AEA67-89C6-43F9-9500-8741ACBC4170}" srcOrd="8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574425-0F3F-444A-A2A1-3E4441EC80EF}">
      <dsp:nvSpPr>
        <dsp:cNvPr id="0" name=""/>
        <dsp:cNvSpPr/>
      </dsp:nvSpPr>
      <dsp:spPr>
        <a:xfrm rot="5400000">
          <a:off x="-198061" y="198061"/>
          <a:ext cx="1320413" cy="92428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Overall Performance Insight </a:t>
          </a:r>
        </a:p>
      </dsp:txBody>
      <dsp:txXfrm rot="-5400000">
        <a:off x="2" y="462144"/>
        <a:ext cx="924289" cy="396124"/>
      </dsp:txXfrm>
    </dsp:sp>
    <dsp:sp modelId="{3940BA66-5887-41D9-B464-2A2CF88D02EF}">
      <dsp:nvSpPr>
        <dsp:cNvPr id="0" name=""/>
        <dsp:cNvSpPr/>
      </dsp:nvSpPr>
      <dsp:spPr>
        <a:xfrm rot="5400000">
          <a:off x="2033260" y="-1108971"/>
          <a:ext cx="858268" cy="307621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Total revenue collected was 8.93 million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Total bookings were 285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 a majority of the customers being return customers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A significant amount,1.18 million ,was lost in revenue due to cancellations</a:t>
          </a:r>
        </a:p>
      </dsp:txBody>
      <dsp:txXfrm rot="-5400000">
        <a:off x="924290" y="41896"/>
        <a:ext cx="3034313" cy="7744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956ED0-D026-4ECF-ACEE-88DB1E113AE9}">
      <dsp:nvSpPr>
        <dsp:cNvPr id="0" name=""/>
        <dsp:cNvSpPr/>
      </dsp:nvSpPr>
      <dsp:spPr>
        <a:xfrm>
          <a:off x="0" y="43642"/>
          <a:ext cx="4130193" cy="1008000"/>
        </a:xfrm>
        <a:prstGeom prst="right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E524D1-3C71-451B-B250-4CC0FFB39B94}">
      <dsp:nvSpPr>
        <dsp:cNvPr id="0" name=""/>
        <dsp:cNvSpPr/>
      </dsp:nvSpPr>
      <dsp:spPr>
        <a:xfrm>
          <a:off x="330975" y="850042"/>
          <a:ext cx="3500983" cy="299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November was the strongest month at KES 973,100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August recorded the lowest at KES 563,000</a:t>
          </a:r>
        </a:p>
      </dsp:txBody>
      <dsp:txXfrm>
        <a:off x="330975" y="850042"/>
        <a:ext cx="3500983" cy="299250"/>
      </dsp:txXfrm>
    </dsp:sp>
    <dsp:sp modelId="{59DD4369-F0D4-47F2-B3D6-2F5B18FA43AE}">
      <dsp:nvSpPr>
        <dsp:cNvPr id="0" name=""/>
        <dsp:cNvSpPr/>
      </dsp:nvSpPr>
      <dsp:spPr>
        <a:xfrm>
          <a:off x="330975" y="295642"/>
          <a:ext cx="3500983" cy="50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240" rIns="0" bIns="1422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Monthly revenue analysis:</a:t>
          </a:r>
        </a:p>
      </dsp:txBody>
      <dsp:txXfrm>
        <a:off x="330975" y="295642"/>
        <a:ext cx="3500983" cy="504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6EF688-34DA-4C81-9A73-A18667FF9720}">
      <dsp:nvSpPr>
        <dsp:cNvPr id="0" name=""/>
        <dsp:cNvSpPr/>
      </dsp:nvSpPr>
      <dsp:spPr>
        <a:xfrm>
          <a:off x="0" y="198120"/>
          <a:ext cx="1069627" cy="42785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4445" rIns="0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Booking analysis – Room preference by booking</a:t>
          </a:r>
        </a:p>
      </dsp:txBody>
      <dsp:txXfrm>
        <a:off x="213925" y="198120"/>
        <a:ext cx="641777" cy="427850"/>
      </dsp:txXfrm>
    </dsp:sp>
    <dsp:sp modelId="{40CF9C7D-F2B6-44CE-91E4-6B1E5B0AEECB}">
      <dsp:nvSpPr>
        <dsp:cNvPr id="0" name=""/>
        <dsp:cNvSpPr/>
      </dsp:nvSpPr>
      <dsp:spPr>
        <a:xfrm>
          <a:off x="931111" y="198140"/>
          <a:ext cx="887790" cy="35511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4445" rIns="0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Standard: (40%) - Most popular</a:t>
          </a:r>
        </a:p>
      </dsp:txBody>
      <dsp:txXfrm>
        <a:off x="1108669" y="198140"/>
        <a:ext cx="532674" cy="355116"/>
      </dsp:txXfrm>
    </dsp:sp>
    <dsp:sp modelId="{1AF66CA1-0569-4ED8-8AC7-32782A053076}">
      <dsp:nvSpPr>
        <dsp:cNvPr id="0" name=""/>
        <dsp:cNvSpPr/>
      </dsp:nvSpPr>
      <dsp:spPr>
        <a:xfrm>
          <a:off x="1694611" y="198140"/>
          <a:ext cx="887790" cy="35511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4445" rIns="0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Deluxe: (31.6%)</a:t>
          </a:r>
        </a:p>
      </dsp:txBody>
      <dsp:txXfrm>
        <a:off x="1872169" y="198140"/>
        <a:ext cx="532674" cy="355116"/>
      </dsp:txXfrm>
    </dsp:sp>
    <dsp:sp modelId="{703FAB98-EB09-4A54-BA44-A2D5B88E02A2}">
      <dsp:nvSpPr>
        <dsp:cNvPr id="0" name=""/>
        <dsp:cNvSpPr/>
      </dsp:nvSpPr>
      <dsp:spPr>
        <a:xfrm>
          <a:off x="2458111" y="198140"/>
          <a:ext cx="887790" cy="35511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4445" rIns="0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Suite: (19.7%)</a:t>
          </a:r>
        </a:p>
      </dsp:txBody>
      <dsp:txXfrm>
        <a:off x="2635669" y="198140"/>
        <a:ext cx="532674" cy="355116"/>
      </dsp:txXfrm>
    </dsp:sp>
    <dsp:sp modelId="{3D4AEA67-89C6-43F9-9500-8741ACBC4170}">
      <dsp:nvSpPr>
        <dsp:cNvPr id="0" name=""/>
        <dsp:cNvSpPr/>
      </dsp:nvSpPr>
      <dsp:spPr>
        <a:xfrm>
          <a:off x="3214527" y="198140"/>
          <a:ext cx="887790" cy="35511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4445" rIns="0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Penthouse: (8.8%)</a:t>
          </a:r>
        </a:p>
      </dsp:txBody>
      <dsp:txXfrm>
        <a:off x="3392085" y="198140"/>
        <a:ext cx="532674" cy="3551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2681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777A7-2759-0A8C-7176-799D11602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2FF2A-8409-D5B7-8C41-3BD2F739C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6FB825-444D-FDE1-6299-F74BE6770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8209C-28C8-C5A3-355E-52363DC045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6424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3429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29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350"/>
            </a:lvl4pPr>
            <a:lvl5pPr marL="1371600" indent="0" algn="ctr">
              <a:buNone/>
              <a:defRPr sz="1350"/>
            </a:lvl5pPr>
            <a:lvl6pPr marL="1714500" indent="0" algn="ctr">
              <a:buNone/>
              <a:defRPr sz="1350"/>
            </a:lvl6pPr>
            <a:lvl7pPr marL="2057400" indent="0" algn="ctr">
              <a:buNone/>
              <a:defRPr sz="1350"/>
            </a:lvl7pPr>
            <a:lvl8pPr marL="2400300" indent="0" algn="ctr">
              <a:buNone/>
              <a:defRPr sz="1350"/>
            </a:lvl8pPr>
            <a:lvl9pPr marL="2743200" indent="0" algn="ctr">
              <a:buNone/>
              <a:defRPr sz="135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887472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15762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3429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29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b="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92546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5" y="1714500"/>
            <a:ext cx="356616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1714500"/>
            <a:ext cx="356616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38212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725" b="0" cap="none" baseline="0">
                <a:solidFill>
                  <a:schemeClr val="accent1"/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225841"/>
            <a:ext cx="3566160" cy="25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316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725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3166" y="2225841"/>
            <a:ext cx="3566160" cy="25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47999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57112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03296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353632"/>
            <a:ext cx="3291840" cy="130302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617220"/>
            <a:ext cx="4258818" cy="388848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1693129"/>
            <a:ext cx="3291840" cy="282172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450"/>
              </a:spcBef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0962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4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3429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3720104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682550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84592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571500"/>
            <a:ext cx="1971675" cy="405765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571500"/>
            <a:ext cx="5686425" cy="40576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44447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101723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1732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714500"/>
            <a:ext cx="7290055" cy="301752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4853028"/>
            <a:ext cx="1615607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4853028"/>
            <a:ext cx="4426094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4853028"/>
            <a:ext cx="730250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041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3750" kern="1200" cap="all" spc="75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19888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3360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44577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58293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795528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912114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0218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openxmlformats.org/officeDocument/2006/relationships/diagramColors" Target="../diagrams/colors2.xml"/><Relationship Id="rId18" Type="http://schemas.openxmlformats.org/officeDocument/2006/relationships/diagramColors" Target="../diagrams/colors3.xml"/><Relationship Id="rId3" Type="http://schemas.openxmlformats.org/officeDocument/2006/relationships/image" Target="../media/image4.jpeg"/><Relationship Id="rId7" Type="http://schemas.openxmlformats.org/officeDocument/2006/relationships/diagramColors" Target="../diagrams/colors1.xml"/><Relationship Id="rId12" Type="http://schemas.openxmlformats.org/officeDocument/2006/relationships/diagramQuickStyle" Target="../diagrams/quickStyle2.xml"/><Relationship Id="rId17" Type="http://schemas.openxmlformats.org/officeDocument/2006/relationships/diagramQuickStyle" Target="../diagrams/quickStyle3.xml"/><Relationship Id="rId2" Type="http://schemas.openxmlformats.org/officeDocument/2006/relationships/notesSlide" Target="../notesSlides/notesSlide7.xml"/><Relationship Id="rId16" Type="http://schemas.openxmlformats.org/officeDocument/2006/relationships/diagramLayout" Target="../diagrams/layout3.xml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1.xml"/><Relationship Id="rId11" Type="http://schemas.openxmlformats.org/officeDocument/2006/relationships/diagramLayout" Target="../diagrams/layout2.xml"/><Relationship Id="rId5" Type="http://schemas.openxmlformats.org/officeDocument/2006/relationships/diagramLayout" Target="../diagrams/layout1.xml"/><Relationship Id="rId15" Type="http://schemas.openxmlformats.org/officeDocument/2006/relationships/diagramData" Target="../diagrams/data3.xml"/><Relationship Id="rId10" Type="http://schemas.openxmlformats.org/officeDocument/2006/relationships/diagramData" Target="../diagrams/data2.xml"/><Relationship Id="rId19" Type="http://schemas.microsoft.com/office/2007/relationships/diagramDrawing" Target="../diagrams/drawing3.xml"/><Relationship Id="rId4" Type="http://schemas.openxmlformats.org/officeDocument/2006/relationships/diagramData" Target="../diagrams/data1.xml"/><Relationship Id="rId9" Type="http://schemas.openxmlformats.org/officeDocument/2006/relationships/image" Target="../media/image16.png"/><Relationship Id="rId14" Type="http://schemas.microsoft.com/office/2007/relationships/diagramDrawing" Target="../diagrams/drawing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jpe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81225" y="1125468"/>
            <a:ext cx="771525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15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TEMBO HOTEL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2017395" y="1766322"/>
            <a:ext cx="7715250" cy="34825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CA31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PERFORMANCE ANALYSIS REPORT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2194559" y="2114580"/>
            <a:ext cx="5854065" cy="675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E9ECE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 comprehensive data-driven review of booking performance, revenue trends, customer behavior, and operational efficiency — </a:t>
            </a:r>
            <a:r>
              <a:rPr lang="en-US" sz="1250" dirty="0" err="1">
                <a:solidFill>
                  <a:srgbClr val="E9ECE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Luxdev</a:t>
            </a:r>
            <a:r>
              <a:rPr lang="en-US" sz="1250" dirty="0">
                <a:solidFill>
                  <a:srgbClr val="E9ECE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Cohort 7 Group 2 Evening </a:t>
            </a:r>
            <a:endParaRPr lang="en-US" sz="12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FCB5F1-2F47-5FE6-C785-21A57B26C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914400"/>
            <a:ext cx="779145" cy="779145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52039B7B-6758-9B58-3DA7-D034D41629FE}"/>
              </a:ext>
            </a:extLst>
          </p:cNvPr>
          <p:cNvSpPr/>
          <p:nvPr/>
        </p:nvSpPr>
        <p:spPr>
          <a:xfrm>
            <a:off x="2181225" y="2879586"/>
            <a:ext cx="5854065" cy="183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250" b="1" dirty="0"/>
              <a:t>Derick </a:t>
            </a:r>
            <a:r>
              <a:rPr lang="en-US" sz="1250" b="1" dirty="0" err="1"/>
              <a:t>Menje</a:t>
            </a:r>
            <a:r>
              <a:rPr lang="en-US" sz="1250" b="1" dirty="0"/>
              <a:t> – Group Leader</a:t>
            </a:r>
          </a:p>
          <a:p>
            <a:pPr marL="285750" indent="-285750" algn="l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250" b="1" dirty="0"/>
              <a:t>Ibrahim Njuguna</a:t>
            </a:r>
          </a:p>
          <a:p>
            <a:pPr marL="285750" indent="-285750" algn="l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250" b="1" dirty="0"/>
              <a:t>Justus Wagura</a:t>
            </a:r>
          </a:p>
          <a:p>
            <a:pPr marL="285750" indent="-285750" algn="l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250" b="1" dirty="0"/>
              <a:t>Noel Mwami</a:t>
            </a:r>
          </a:p>
          <a:p>
            <a:pPr marL="285750" indent="-285750" algn="l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250" b="1" dirty="0"/>
              <a:t>Clinton </a:t>
            </a:r>
            <a:r>
              <a:rPr lang="en-US" sz="1250" b="1" dirty="0" err="1"/>
              <a:t>Onduko</a:t>
            </a:r>
            <a:r>
              <a:rPr lang="en-US" sz="1250" b="1" dirty="0"/>
              <a:t> </a:t>
            </a:r>
          </a:p>
          <a:p>
            <a:pPr marL="285750" indent="-285750" algn="l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250" b="1" dirty="0"/>
              <a:t>Kenneth Kipng’etich</a:t>
            </a:r>
          </a:p>
          <a:p>
            <a:pPr marL="285750" indent="-285750" algn="l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250" b="1" dirty="0"/>
              <a:t>Salome Chemutai</a:t>
            </a:r>
          </a:p>
          <a:p>
            <a:pPr marL="285750" indent="-285750" algn="l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1250" b="1" dirty="0"/>
              <a:t>Lenny Maina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4952405" cy="54649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PRESENTATION OVERVIEW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260872"/>
            <a:ext cx="714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This analysis walks through four key stages of the project — from data sourcing and cleaning through to actionable strategic recommendations for Tembo Hotel management.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932384"/>
            <a:ext cx="2571750" cy="628650"/>
          </a:xfrm>
          <a:prstGeom prst="rect">
            <a:avLst/>
          </a:prstGeom>
          <a:solidFill>
            <a:srgbClr val="FFFFFF"/>
          </a:solidFill>
          <a:ln w="27432">
            <a:solidFill>
              <a:srgbClr val="1421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1513" y="2032397"/>
            <a:ext cx="298159" cy="2249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FCA31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64419" y="2032397"/>
            <a:ext cx="197881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INTRODUCTION &amp; PROJECT GOALS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86125" y="1932384"/>
            <a:ext cx="2571750" cy="628650"/>
          </a:xfrm>
          <a:prstGeom prst="rect">
            <a:avLst/>
          </a:prstGeom>
          <a:solidFill>
            <a:srgbClr val="FFFFFF"/>
          </a:solidFill>
          <a:ln w="27432">
            <a:solidFill>
              <a:srgbClr val="1421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86138" y="2032397"/>
            <a:ext cx="320601" cy="2249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FCA31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04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829050" y="2032397"/>
            <a:ext cx="130909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DATA OVERVIEW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00750" y="1932384"/>
            <a:ext cx="2571750" cy="628650"/>
          </a:xfrm>
          <a:prstGeom prst="rect">
            <a:avLst/>
          </a:prstGeom>
          <a:solidFill>
            <a:srgbClr val="FFFFFF"/>
          </a:solidFill>
          <a:ln w="27432">
            <a:solidFill>
              <a:srgbClr val="1421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00763" y="2032397"/>
            <a:ext cx="298159" cy="2249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FCA31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05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545461" y="2032397"/>
            <a:ext cx="192702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DATA CLEANING PROCESS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1500" y="2646759"/>
            <a:ext cx="2571750" cy="628650"/>
          </a:xfrm>
          <a:prstGeom prst="rect">
            <a:avLst/>
          </a:prstGeom>
          <a:solidFill>
            <a:srgbClr val="FFFFFF"/>
          </a:solidFill>
          <a:ln w="27432">
            <a:solidFill>
              <a:srgbClr val="1421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1513" y="2746772"/>
            <a:ext cx="307777" cy="2249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FCA31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06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143000" y="2746772"/>
            <a:ext cx="1900238" cy="281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FINDINGS: KEY PERFORMANCE DASHBOARD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286125" y="2646759"/>
            <a:ext cx="2571750" cy="628650"/>
          </a:xfrm>
          <a:prstGeom prst="rect">
            <a:avLst/>
          </a:prstGeom>
          <a:solidFill>
            <a:srgbClr val="FFFFFF"/>
          </a:solidFill>
          <a:ln w="27432">
            <a:solidFill>
              <a:srgbClr val="1421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86138" y="2746772"/>
            <a:ext cx="304571" cy="2249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FCA31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07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3832622" y="2746772"/>
            <a:ext cx="1925241" cy="15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FINDINGS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000750" y="2646759"/>
            <a:ext cx="2571750" cy="628650"/>
          </a:xfrm>
          <a:prstGeom prst="rect">
            <a:avLst/>
          </a:prstGeom>
          <a:solidFill>
            <a:srgbClr val="FFFFFF"/>
          </a:solidFill>
          <a:ln w="27432">
            <a:solidFill>
              <a:srgbClr val="1421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00763" y="2746772"/>
            <a:ext cx="312586" cy="2249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FCA31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08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557963" y="2746772"/>
            <a:ext cx="1914525" cy="15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FINDINGS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71500" y="3361134"/>
            <a:ext cx="2571750" cy="628650"/>
          </a:xfrm>
          <a:prstGeom prst="rect">
            <a:avLst/>
          </a:prstGeom>
          <a:solidFill>
            <a:srgbClr val="FFFFFF"/>
          </a:solidFill>
          <a:ln w="27432">
            <a:solidFill>
              <a:srgbClr val="1421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1513" y="3461147"/>
            <a:ext cx="307777" cy="2249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FCA31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09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125141" y="3461147"/>
            <a:ext cx="662041" cy="1526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FINDINGS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86125" y="3361134"/>
            <a:ext cx="2571750" cy="628650"/>
          </a:xfrm>
          <a:prstGeom prst="rect">
            <a:avLst/>
          </a:prstGeom>
          <a:solidFill>
            <a:srgbClr val="FFFFFF"/>
          </a:solidFill>
          <a:ln w="27432">
            <a:solidFill>
              <a:srgbClr val="14213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86138" y="3461147"/>
            <a:ext cx="251672" cy="2249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b="1" dirty="0">
                <a:solidFill>
                  <a:srgbClr val="FCA311"/>
                </a:solidFill>
                <a:latin typeface="Montserrat ExtraBold" pitchFamily="34" charset="0"/>
              </a:rPr>
              <a:t>10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3848695" y="3461147"/>
            <a:ext cx="1909167" cy="15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KEY INSIGHTS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000750" y="3361134"/>
            <a:ext cx="2571750" cy="571500"/>
          </a:xfrm>
          <a:prstGeom prst="rect">
            <a:avLst/>
          </a:prstGeom>
          <a:solidFill>
            <a:srgbClr val="FFFFFF"/>
          </a:solidFill>
          <a:ln w="27432">
            <a:solidFill>
              <a:srgbClr val="14213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00763" y="3461147"/>
            <a:ext cx="185948" cy="2249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b="1" dirty="0">
                <a:solidFill>
                  <a:srgbClr val="FCA311"/>
                </a:solidFill>
                <a:latin typeface="Montserrat ExtraBold" pitchFamily="34" charset="0"/>
              </a:rPr>
              <a:t>11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6557963" y="3461147"/>
            <a:ext cx="1444306" cy="3127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4213D"/>
                </a:solidFill>
                <a:latin typeface="Montserrat ExtraBold" pitchFamily="34" charset="0"/>
              </a:rPr>
              <a:t>STRATEGIC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4213D"/>
                </a:solidFill>
                <a:latin typeface="Montserrat ExtraBold" pitchFamily="34" charset="0"/>
              </a:rPr>
              <a:t>RECOMMENDATIONS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71500" y="4807744"/>
            <a:ext cx="1885950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77B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GROUP 2 E | TEMBO HOTEL ANALYSIS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352830" y="4720233"/>
            <a:ext cx="21967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02</a:t>
            </a:r>
            <a:endParaRPr lang="en-US" sz="1200" dirty="0"/>
          </a:p>
        </p:txBody>
      </p:sp>
      <p:sp>
        <p:nvSpPr>
          <p:cNvPr id="37" name="Shape 26">
            <a:extLst>
              <a:ext uri="{FF2B5EF4-FFF2-40B4-BE49-F238E27FC236}">
                <a16:creationId xmlns:a16="http://schemas.microsoft.com/office/drawing/2014/main" id="{2A96D4EB-80C5-A7DB-CCFC-DB410BD58F7D}"/>
              </a:ext>
            </a:extLst>
          </p:cNvPr>
          <p:cNvSpPr/>
          <p:nvPr/>
        </p:nvSpPr>
        <p:spPr>
          <a:xfrm>
            <a:off x="560070" y="4092654"/>
            <a:ext cx="2571750" cy="571500"/>
          </a:xfrm>
          <a:prstGeom prst="rect">
            <a:avLst/>
          </a:prstGeom>
          <a:solidFill>
            <a:srgbClr val="FFFFFF"/>
          </a:solidFill>
          <a:ln w="27432">
            <a:solidFill>
              <a:srgbClr val="14213D"/>
            </a:solidFill>
            <a:prstDash val="solid"/>
          </a:ln>
        </p:spPr>
      </p:sp>
      <p:sp>
        <p:nvSpPr>
          <p:cNvPr id="38" name="Text 27">
            <a:extLst>
              <a:ext uri="{FF2B5EF4-FFF2-40B4-BE49-F238E27FC236}">
                <a16:creationId xmlns:a16="http://schemas.microsoft.com/office/drawing/2014/main" id="{7A04B277-84C6-7D27-DE3C-E698DDB94331}"/>
              </a:ext>
            </a:extLst>
          </p:cNvPr>
          <p:cNvSpPr/>
          <p:nvPr/>
        </p:nvSpPr>
        <p:spPr>
          <a:xfrm>
            <a:off x="660083" y="4192667"/>
            <a:ext cx="230832" cy="2249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b="1" dirty="0">
                <a:solidFill>
                  <a:srgbClr val="FCA311"/>
                </a:solidFill>
                <a:latin typeface="Montserrat ExtraBold" pitchFamily="34" charset="0"/>
              </a:rPr>
              <a:t>12</a:t>
            </a:r>
            <a:endParaRPr lang="en-US" sz="1800" dirty="0"/>
          </a:p>
        </p:txBody>
      </p:sp>
      <p:sp>
        <p:nvSpPr>
          <p:cNvPr id="39" name="Text 28">
            <a:extLst>
              <a:ext uri="{FF2B5EF4-FFF2-40B4-BE49-F238E27FC236}">
                <a16:creationId xmlns:a16="http://schemas.microsoft.com/office/drawing/2014/main" id="{303E1A3B-E48B-F70E-1F42-A295287B5D9C}"/>
              </a:ext>
            </a:extLst>
          </p:cNvPr>
          <p:cNvSpPr/>
          <p:nvPr/>
        </p:nvSpPr>
        <p:spPr>
          <a:xfrm>
            <a:off x="1117283" y="4192667"/>
            <a:ext cx="101441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CONCLUSION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24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36292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INTRODUCTION &amp; PROJECT GOALS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1500" y="1468041"/>
            <a:ext cx="7143750" cy="603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28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This project analyzes Tembo Hotel's booking dataset to uncover revenue trends, understand customer behavior, and evaluate operational performance. The raw data required significant cleaning before meaningful analysis could be conducted.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71500" y="2439591"/>
            <a:ext cx="80010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77B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FOUR CORE PROJECT GOALS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71500" y="2791420"/>
            <a:ext cx="1893094" cy="2075259"/>
          </a:xfrm>
          <a:prstGeom prst="rect">
            <a:avLst/>
          </a:prstGeom>
          <a:solidFill>
            <a:srgbClr val="FFFFFF"/>
          </a:solidFill>
          <a:ln w="27432">
            <a:solidFill>
              <a:srgbClr val="14213D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2962870"/>
            <a:ext cx="1550194" cy="342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2950" y="3448645"/>
            <a:ext cx="1550194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CLEAN DATA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42950" y="3743325"/>
            <a:ext cx="15501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Clean the raw hotel booking data to ensure analytical reliability and accuracy.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2607469" y="2791420"/>
            <a:ext cx="1893094" cy="2075259"/>
          </a:xfrm>
          <a:prstGeom prst="rect">
            <a:avLst/>
          </a:prstGeom>
          <a:solidFill>
            <a:srgbClr val="FFFFFF"/>
          </a:solidFill>
          <a:ln w="27432">
            <a:solidFill>
              <a:srgbClr val="14213D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8919" y="2962870"/>
            <a:ext cx="1550194" cy="3429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778919" y="3448645"/>
            <a:ext cx="1550194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REVENUE TRENDS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2778919" y="3952280"/>
            <a:ext cx="15501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Generate insights on revenue patterns across time periods and room types.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4643438" y="2791420"/>
            <a:ext cx="1893094" cy="2018109"/>
          </a:xfrm>
          <a:prstGeom prst="rect">
            <a:avLst/>
          </a:prstGeom>
          <a:solidFill>
            <a:srgbClr val="FFFFFF"/>
          </a:solidFill>
          <a:ln w="27432">
            <a:solidFill>
              <a:srgbClr val="14213D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4888" y="2962870"/>
            <a:ext cx="1550194" cy="3429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814888" y="3448645"/>
            <a:ext cx="1550194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CUSTOMER BEHAVIOR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4814888" y="3952280"/>
            <a:ext cx="155019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Understand guest booking patterns, origins, and preferences.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6679406" y="2791420"/>
            <a:ext cx="1893094" cy="2018109"/>
          </a:xfrm>
          <a:prstGeom prst="rect">
            <a:avLst/>
          </a:prstGeom>
          <a:solidFill>
            <a:srgbClr val="FFFFFF"/>
          </a:solidFill>
          <a:ln w="27432">
            <a:solidFill>
              <a:srgbClr val="14213D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0856" y="2962870"/>
            <a:ext cx="1550194" cy="3429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50856" y="3448645"/>
            <a:ext cx="1550194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6850856" y="3743325"/>
            <a:ext cx="15501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Evaluate operational performance including staff contribution and room efficiency.</a:t>
            </a:r>
            <a:endParaRPr lang="en-US" sz="850" dirty="0"/>
          </a:p>
        </p:txBody>
      </p:sp>
      <p:sp>
        <p:nvSpPr>
          <p:cNvPr id="22" name="Text 15"/>
          <p:cNvSpPr/>
          <p:nvPr/>
        </p:nvSpPr>
        <p:spPr>
          <a:xfrm>
            <a:off x="407194" y="4993361"/>
            <a:ext cx="1885950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77B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GROUP 2 E | TEMBO HOTEL ANALYSIS</a:t>
            </a:r>
            <a:endParaRPr lang="en-US" sz="700" dirty="0"/>
          </a:p>
        </p:txBody>
      </p:sp>
      <p:sp>
        <p:nvSpPr>
          <p:cNvPr id="23" name="Text 16"/>
          <p:cNvSpPr/>
          <p:nvPr/>
        </p:nvSpPr>
        <p:spPr>
          <a:xfrm>
            <a:off x="8462665" y="4933593"/>
            <a:ext cx="21967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703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36292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DATA OVERVIEW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1500" y="1610916"/>
            <a:ext cx="4700588" cy="810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 source data was a CSV file containing approximately 285 booking records. </a:t>
            </a:r>
          </a:p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It captured five core data domains essential for a full-picture hotel performance analysis.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2511028"/>
            <a:ext cx="4629150" cy="2444948"/>
          </a:xfrm>
          <a:prstGeom prst="rect">
            <a:avLst/>
          </a:prstGeom>
          <a:solidFill>
            <a:srgbClr val="FFFFFF"/>
          </a:solidFill>
          <a:ln w="27432">
            <a:solidFill>
              <a:srgbClr val="1421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71500" y="2511028"/>
            <a:ext cx="1373553" cy="401836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2511028"/>
            <a:ext cx="1373553" cy="40183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DATA DOMAIN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945053" y="2511028"/>
            <a:ext cx="3255597" cy="401836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9" name="Text 6"/>
          <p:cNvSpPr/>
          <p:nvPr/>
        </p:nvSpPr>
        <p:spPr>
          <a:xfrm>
            <a:off x="1945053" y="2511028"/>
            <a:ext cx="3255597" cy="40183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FIELDS INCLUDED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3027164"/>
            <a:ext cx="109120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12529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Booking Details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945053" y="2912864"/>
            <a:ext cx="3255597" cy="39290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Dates, nights stayed, booking status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85800" y="3427214"/>
            <a:ext cx="90904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12529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Guest Details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945053" y="3305770"/>
            <a:ext cx="3255597" cy="40005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Name, phone, nationality, city of origin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85800" y="3827264"/>
            <a:ext cx="75902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12529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Room Data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945053" y="3705820"/>
            <a:ext cx="3255597" cy="40005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Room number, room type, room rates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85800" y="4227314"/>
            <a:ext cx="68401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12529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Staff Data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945053" y="4105870"/>
            <a:ext cx="3255597" cy="40005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Staff name, department, monthly salary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85800" y="4627364"/>
            <a:ext cx="68580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12529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Payments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945053" y="4505920"/>
            <a:ext cx="3255597" cy="39290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Payment method, total amount, service price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486400" y="1610916"/>
            <a:ext cx="3086100" cy="3473648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21" name="Shape 18"/>
          <p:cNvSpPr/>
          <p:nvPr/>
        </p:nvSpPr>
        <p:spPr>
          <a:xfrm>
            <a:off x="5486400" y="1610916"/>
            <a:ext cx="57150" cy="3473648"/>
          </a:xfrm>
          <a:prstGeom prst="rect">
            <a:avLst/>
          </a:prstGeom>
          <a:solidFill>
            <a:srgbClr val="FCA311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0713" y="1843980"/>
            <a:ext cx="171450" cy="17145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979319" y="1825228"/>
            <a:ext cx="2046684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CA31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DATA QUALITY ISSUES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700713" y="2177058"/>
            <a:ext cx="2657475" cy="385763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Duplicate Booking IDs</a:t>
            </a:r>
            <a:r>
              <a:rPr lang="en-US" sz="95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
Creates inflated metrics and revenue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5700713" y="2677120"/>
            <a:ext cx="2657475" cy="385763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Inconsistent Formats</a:t>
            </a:r>
            <a:r>
              <a:rPr lang="en-US" sz="95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
For phone numbers, dates, and cities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5700713" y="3177183"/>
            <a:ext cx="2657475" cy="385763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Missing &amp; Blank Values</a:t>
            </a:r>
            <a:r>
              <a:rPr lang="en-US" sz="95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
Across several key fields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5700713" y="3677245"/>
            <a:ext cx="2657475" cy="578644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Inconsistent Labels</a:t>
            </a:r>
            <a:r>
              <a:rPr lang="en-US" sz="95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
For room categories (e.g., Std vs Standard)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5700713" y="4370189"/>
            <a:ext cx="2657475" cy="385763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Currency Formatting</a:t>
            </a:r>
            <a:r>
              <a:rPr lang="en-US" sz="95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
Stored as text with symbols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71500" y="5034558"/>
            <a:ext cx="1885950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77B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GROUP 2 E | TEMBO HOTEL ANALYSIS</a:t>
            </a:r>
            <a:endParaRPr lang="en-US" sz="700" dirty="0"/>
          </a:p>
        </p:txBody>
      </p:sp>
      <p:sp>
        <p:nvSpPr>
          <p:cNvPr id="30" name="Text 26"/>
          <p:cNvSpPr/>
          <p:nvPr/>
        </p:nvSpPr>
        <p:spPr>
          <a:xfrm>
            <a:off x="8334970" y="5141714"/>
            <a:ext cx="23753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5700713" y="2205633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dirty="0">
                <a:solidFill>
                  <a:srgbClr val="FCA3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■</a:t>
            </a:r>
            <a:endParaRPr lang="en-US" sz="600" dirty="0"/>
          </a:p>
        </p:txBody>
      </p:sp>
      <p:sp>
        <p:nvSpPr>
          <p:cNvPr id="32" name="Text 28"/>
          <p:cNvSpPr/>
          <p:nvPr/>
        </p:nvSpPr>
        <p:spPr>
          <a:xfrm>
            <a:off x="5700713" y="2705695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dirty="0">
                <a:solidFill>
                  <a:srgbClr val="FCA3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■</a:t>
            </a:r>
            <a:endParaRPr lang="en-US" sz="600" dirty="0"/>
          </a:p>
        </p:txBody>
      </p:sp>
      <p:sp>
        <p:nvSpPr>
          <p:cNvPr id="33" name="Text 29"/>
          <p:cNvSpPr/>
          <p:nvPr/>
        </p:nvSpPr>
        <p:spPr>
          <a:xfrm>
            <a:off x="5700713" y="3205758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dirty="0">
                <a:solidFill>
                  <a:srgbClr val="FCA3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■</a:t>
            </a:r>
            <a:endParaRPr lang="en-US" sz="600" dirty="0"/>
          </a:p>
        </p:txBody>
      </p:sp>
      <p:sp>
        <p:nvSpPr>
          <p:cNvPr id="34" name="Text 30"/>
          <p:cNvSpPr/>
          <p:nvPr/>
        </p:nvSpPr>
        <p:spPr>
          <a:xfrm>
            <a:off x="5700713" y="3705820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dirty="0">
                <a:solidFill>
                  <a:srgbClr val="FCA3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■</a:t>
            </a:r>
            <a:endParaRPr lang="en-US" sz="600" dirty="0"/>
          </a:p>
        </p:txBody>
      </p:sp>
      <p:sp>
        <p:nvSpPr>
          <p:cNvPr id="35" name="Text 31"/>
          <p:cNvSpPr/>
          <p:nvPr/>
        </p:nvSpPr>
        <p:spPr>
          <a:xfrm>
            <a:off x="5700713" y="4398764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dirty="0">
                <a:solidFill>
                  <a:srgbClr val="FCA3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■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143875" cy="36292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DATA CLEANING PROCESS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1500" y="1410891"/>
            <a:ext cx="7143750" cy="397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 raw dataset contained structural problems that would have made any analysis misleading without cleaning. Three primary issues were prioritized for correction before analysis began.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996678"/>
            <a:ext cx="2628900" cy="2558858"/>
          </a:xfrm>
          <a:prstGeom prst="rect">
            <a:avLst/>
          </a:prstGeom>
          <a:solidFill>
            <a:srgbClr val="FFFFFF"/>
          </a:solidFill>
          <a:ln w="27432">
            <a:solidFill>
              <a:srgbClr val="1421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57463" y="2053828"/>
            <a:ext cx="55721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14213D">
                    <a:alpha val="8000"/>
                  </a:srgbClr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</a:t>
            </a:r>
            <a:endParaRPr lang="en-US" sz="3750" dirty="0"/>
          </a:p>
        </p:txBody>
      </p:sp>
      <p:sp>
        <p:nvSpPr>
          <p:cNvPr id="7" name="Text 4"/>
          <p:cNvSpPr/>
          <p:nvPr/>
        </p:nvSpPr>
        <p:spPr>
          <a:xfrm>
            <a:off x="714375" y="2139553"/>
            <a:ext cx="2343150" cy="417909"/>
          </a:xfrm>
          <a:prstGeom prst="rect">
            <a:avLst/>
          </a:prstGeom>
          <a:noFill/>
          <a:ln/>
        </p:spPr>
        <p:txBody>
          <a:bodyPr wrap="square" lIns="0" tIns="0" rIns="255143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DUPLICATE BOOKING IDS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641402"/>
            <a:ext cx="114300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1538" y="2628900"/>
            <a:ext cx="55899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77B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THE RISK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714375" y="2811066"/>
            <a:ext cx="2343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Could severely inflate revenue figures and booking counts.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3266480"/>
            <a:ext cx="114300" cy="114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71538" y="3253978"/>
            <a:ext cx="90547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CA31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714375" y="3436144"/>
            <a:ext cx="2343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Deduplicated records into a clean staging table.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714375" y="3850481"/>
            <a:ext cx="2343150" cy="505030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15" name="Shape 10"/>
          <p:cNvSpPr/>
          <p:nvPr/>
        </p:nvSpPr>
        <p:spPr>
          <a:xfrm>
            <a:off x="714375" y="3850481"/>
            <a:ext cx="28575" cy="505030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16" name="Text 11"/>
          <p:cNvSpPr/>
          <p:nvPr/>
        </p:nvSpPr>
        <p:spPr>
          <a:xfrm>
            <a:off x="714375" y="3850481"/>
            <a:ext cx="2343150" cy="50503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E9ECE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CREATE table cleaned_staging_booking1 AS SELECT DISTINCT * FROM cleaned_staging_booking;</a:t>
            </a:r>
            <a:endParaRPr lang="en-US" sz="650" dirty="0"/>
          </a:p>
        </p:txBody>
      </p:sp>
      <p:sp>
        <p:nvSpPr>
          <p:cNvPr id="17" name="Shape 12"/>
          <p:cNvSpPr/>
          <p:nvPr/>
        </p:nvSpPr>
        <p:spPr>
          <a:xfrm>
            <a:off x="3328988" y="1996678"/>
            <a:ext cx="2628900" cy="2501708"/>
          </a:xfrm>
          <a:prstGeom prst="rect">
            <a:avLst/>
          </a:prstGeom>
          <a:solidFill>
            <a:srgbClr val="FFFFFF"/>
          </a:solidFill>
          <a:ln w="27432">
            <a:solidFill>
              <a:srgbClr val="14213D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214938" y="2053828"/>
            <a:ext cx="657225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14213D">
                    <a:alpha val="8000"/>
                  </a:srgbClr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02</a:t>
            </a:r>
            <a:endParaRPr lang="en-US" sz="3750" dirty="0"/>
          </a:p>
        </p:txBody>
      </p:sp>
      <p:sp>
        <p:nvSpPr>
          <p:cNvPr id="19" name="Text 14"/>
          <p:cNvSpPr/>
          <p:nvPr/>
        </p:nvSpPr>
        <p:spPr>
          <a:xfrm>
            <a:off x="3471863" y="2139553"/>
            <a:ext cx="2343150" cy="208955"/>
          </a:xfrm>
          <a:prstGeom prst="rect">
            <a:avLst/>
          </a:prstGeom>
          <a:noFill/>
          <a:ln/>
        </p:spPr>
        <p:txBody>
          <a:bodyPr wrap="square" lIns="0" tIns="0" rIns="255143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INCONSISTENT DATES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1863" y="2432447"/>
            <a:ext cx="114300" cy="1143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629025" y="2419945"/>
            <a:ext cx="55899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77B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THE RISK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3471863" y="2602111"/>
            <a:ext cx="2343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Makes time-based and seasonal analysis impossible.</a:t>
            </a:r>
            <a:endParaRPr lang="en-US" sz="85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1863" y="3057525"/>
            <a:ext cx="114300" cy="1143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629025" y="3045023"/>
            <a:ext cx="90547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CA31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25" name="Text 18"/>
          <p:cNvSpPr/>
          <p:nvPr/>
        </p:nvSpPr>
        <p:spPr>
          <a:xfrm>
            <a:off x="3471863" y="3227189"/>
            <a:ext cx="23431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Standardized all date fields and converted them to proper SQL date types.</a:t>
            </a:r>
            <a:endParaRPr lang="en-US" sz="850" dirty="0"/>
          </a:p>
        </p:txBody>
      </p:sp>
      <p:sp>
        <p:nvSpPr>
          <p:cNvPr id="26" name="Shape 19"/>
          <p:cNvSpPr/>
          <p:nvPr/>
        </p:nvSpPr>
        <p:spPr>
          <a:xfrm>
            <a:off x="6086475" y="1996678"/>
            <a:ext cx="2628900" cy="2501708"/>
          </a:xfrm>
          <a:prstGeom prst="rect">
            <a:avLst/>
          </a:prstGeom>
          <a:solidFill>
            <a:srgbClr val="FFFFFF"/>
          </a:solidFill>
          <a:ln w="27432">
            <a:solidFill>
              <a:srgbClr val="14213D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7972425" y="2053828"/>
            <a:ext cx="657225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14213D">
                    <a:alpha val="8000"/>
                  </a:srgbClr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</a:t>
            </a:r>
            <a:endParaRPr lang="en-US" sz="3750" dirty="0"/>
          </a:p>
        </p:txBody>
      </p:sp>
      <p:sp>
        <p:nvSpPr>
          <p:cNvPr id="28" name="Text 21"/>
          <p:cNvSpPr/>
          <p:nvPr/>
        </p:nvSpPr>
        <p:spPr>
          <a:xfrm>
            <a:off x="6115050" y="2139553"/>
            <a:ext cx="2457450" cy="184666"/>
          </a:xfrm>
          <a:prstGeom prst="rect">
            <a:avLst/>
          </a:prstGeom>
          <a:noFill/>
          <a:ln/>
        </p:spPr>
        <p:txBody>
          <a:bodyPr wrap="square" lIns="0" tIns="0" rIns="255143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TOTAL AMOUNT FORMATS</a:t>
            </a:r>
            <a:endParaRPr lang="en-US" sz="12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2641402"/>
            <a:ext cx="114300" cy="1143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386513" y="2628900"/>
            <a:ext cx="55899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77B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THE RISK</a:t>
            </a:r>
            <a:endParaRPr lang="en-US" sz="800" dirty="0"/>
          </a:p>
        </p:txBody>
      </p:sp>
      <p:sp>
        <p:nvSpPr>
          <p:cNvPr id="31" name="Text 23"/>
          <p:cNvSpPr/>
          <p:nvPr/>
        </p:nvSpPr>
        <p:spPr>
          <a:xfrm>
            <a:off x="6229350" y="2811066"/>
            <a:ext cx="2343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Unreliable financial aggregation and mathematical errors.</a:t>
            </a:r>
            <a:endParaRPr lang="en-US" sz="85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3266480"/>
            <a:ext cx="114300" cy="11430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386513" y="3253978"/>
            <a:ext cx="90547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CA31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34" name="Text 25"/>
          <p:cNvSpPr/>
          <p:nvPr/>
        </p:nvSpPr>
        <p:spPr>
          <a:xfrm>
            <a:off x="6229350" y="3436144"/>
            <a:ext cx="2343150" cy="45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We cleaned by removing symbols and converting them into numeric values to enable accurate aggregation</a:t>
            </a:r>
          </a:p>
        </p:txBody>
      </p:sp>
      <p:sp>
        <p:nvSpPr>
          <p:cNvPr id="35" name="Text 26"/>
          <p:cNvSpPr/>
          <p:nvPr/>
        </p:nvSpPr>
        <p:spPr>
          <a:xfrm>
            <a:off x="571500" y="4850606"/>
            <a:ext cx="1885950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77B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GROUP 2 E | TEMBO HOTEL ANALYSIS</a:t>
            </a:r>
            <a:endParaRPr lang="en-US" sz="700" dirty="0"/>
          </a:p>
        </p:txBody>
      </p:sp>
      <p:sp>
        <p:nvSpPr>
          <p:cNvPr id="36" name="Text 27"/>
          <p:cNvSpPr/>
          <p:nvPr/>
        </p:nvSpPr>
        <p:spPr>
          <a:xfrm>
            <a:off x="8351044" y="4763095"/>
            <a:ext cx="221456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3215" y="207197"/>
            <a:ext cx="7545586" cy="36292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4213D"/>
                </a:solidFill>
                <a:latin typeface="Montserrat ExtraBold" pitchFamily="34" charset="0"/>
              </a:rPr>
              <a:t>FINDINGS: Key Performance Dashboard  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285750" y="976908"/>
            <a:ext cx="7858125" cy="163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536031" y="1591270"/>
            <a:ext cx="1907381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489688" y="1787723"/>
            <a:ext cx="65" cy="252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0000"/>
              </a:lnSpc>
              <a:buNone/>
            </a:pP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700588" y="1591270"/>
            <a:ext cx="1907381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779420" y="1562695"/>
            <a:ext cx="199310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818801" y="1759148"/>
            <a:ext cx="65" cy="252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0000"/>
              </a:lnSpc>
              <a:buNone/>
            </a:pP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285750" y="4807744"/>
            <a:ext cx="1885950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77B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GROUP 2 E | TEMBO HOTEL ANALYSIS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8629650" y="4720233"/>
            <a:ext cx="22860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06</a:t>
            </a:r>
            <a:endParaRPr lang="en-US" sz="12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1E644EF-BDFA-86F4-5C01-DA75C58C4B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1" y="570118"/>
            <a:ext cx="8572500" cy="41291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730CB-B3C9-57C5-CDB0-2C098BF99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C2B4EB1-E7F0-990D-DF18-2DB7AF03F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C43D428-FC0A-F019-6D37-B3741210C1E2}"/>
              </a:ext>
            </a:extLst>
          </p:cNvPr>
          <p:cNvSpPr/>
          <p:nvPr/>
        </p:nvSpPr>
        <p:spPr>
          <a:xfrm>
            <a:off x="570395" y="184337"/>
            <a:ext cx="7545586" cy="36292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4213D"/>
                </a:solidFill>
                <a:latin typeface="Montserrat ExtraBold" pitchFamily="34" charset="0"/>
              </a:rPr>
              <a:t>FINDINGS…</a:t>
            </a:r>
            <a:endParaRPr lang="en-US" sz="18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F2956FA-D0B2-71BD-08B9-5F646ACC4E8D}"/>
              </a:ext>
            </a:extLst>
          </p:cNvPr>
          <p:cNvSpPr/>
          <p:nvPr/>
        </p:nvSpPr>
        <p:spPr>
          <a:xfrm>
            <a:off x="285750" y="976908"/>
            <a:ext cx="7858125" cy="163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9AEDBAD-172B-313F-DDFA-2AB0E738BD06}"/>
              </a:ext>
            </a:extLst>
          </p:cNvPr>
          <p:cNvSpPr/>
          <p:nvPr/>
        </p:nvSpPr>
        <p:spPr>
          <a:xfrm>
            <a:off x="2536031" y="1591270"/>
            <a:ext cx="1907381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CF3888B-B9C0-0AAD-37E1-D7A702A4173D}"/>
              </a:ext>
            </a:extLst>
          </p:cNvPr>
          <p:cNvSpPr/>
          <p:nvPr/>
        </p:nvSpPr>
        <p:spPr>
          <a:xfrm>
            <a:off x="3489688" y="1787723"/>
            <a:ext cx="65" cy="252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0000"/>
              </a:lnSpc>
              <a:buNone/>
            </a:pPr>
            <a:endParaRPr lang="en-US" sz="20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9C283BF-6FC7-0999-5F5F-B5D54885F7CC}"/>
              </a:ext>
            </a:extLst>
          </p:cNvPr>
          <p:cNvSpPr/>
          <p:nvPr/>
        </p:nvSpPr>
        <p:spPr>
          <a:xfrm>
            <a:off x="4700588" y="1591270"/>
            <a:ext cx="1907381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0D0EFAFA-4E47-49CE-986F-2203B3B33C96}"/>
              </a:ext>
            </a:extLst>
          </p:cNvPr>
          <p:cNvSpPr/>
          <p:nvPr/>
        </p:nvSpPr>
        <p:spPr>
          <a:xfrm>
            <a:off x="6779420" y="1562695"/>
            <a:ext cx="199310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7A9392D8-C16D-5E2C-B28B-38D3419CC3C0}"/>
              </a:ext>
            </a:extLst>
          </p:cNvPr>
          <p:cNvSpPr/>
          <p:nvPr/>
        </p:nvSpPr>
        <p:spPr>
          <a:xfrm>
            <a:off x="7818801" y="1759148"/>
            <a:ext cx="65" cy="252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0000"/>
              </a:lnSpc>
              <a:buNone/>
            </a:pPr>
            <a:endParaRPr lang="en-US" sz="200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9058D3EB-EE43-FD8D-C54F-7ABEBD3477C1}"/>
              </a:ext>
            </a:extLst>
          </p:cNvPr>
          <p:cNvSpPr/>
          <p:nvPr/>
        </p:nvSpPr>
        <p:spPr>
          <a:xfrm>
            <a:off x="8629650" y="4720233"/>
            <a:ext cx="65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8FCD8F73-26CB-CBC9-73CA-6041509143F6}"/>
              </a:ext>
            </a:extLst>
          </p:cNvPr>
          <p:cNvSpPr/>
          <p:nvPr/>
        </p:nvSpPr>
        <p:spPr>
          <a:xfrm>
            <a:off x="571500" y="571500"/>
            <a:ext cx="8001000" cy="36292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</a:t>
            </a:r>
            <a:endParaRPr lang="en-US" sz="1800" dirty="0"/>
          </a:p>
        </p:txBody>
      </p:sp>
      <p:graphicFrame>
        <p:nvGraphicFramePr>
          <p:cNvPr id="35" name="Diagram 34">
            <a:extLst>
              <a:ext uri="{FF2B5EF4-FFF2-40B4-BE49-F238E27FC236}">
                <a16:creationId xmlns:a16="http://schemas.microsoft.com/office/drawing/2014/main" id="{A42D737B-73B1-5284-4A13-1B2AEA3DB8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5717345"/>
              </p:ext>
            </p:extLst>
          </p:nvPr>
        </p:nvGraphicFramePr>
        <p:xfrm>
          <a:off x="571500" y="615067"/>
          <a:ext cx="4000500" cy="1320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Shape 2">
            <a:extLst>
              <a:ext uri="{FF2B5EF4-FFF2-40B4-BE49-F238E27FC236}">
                <a16:creationId xmlns:a16="http://schemas.microsoft.com/office/drawing/2014/main" id="{012BE4AD-B5BF-62E7-A260-E7AB6D78CA48}"/>
              </a:ext>
            </a:extLst>
          </p:cNvPr>
          <p:cNvSpPr/>
          <p:nvPr/>
        </p:nvSpPr>
        <p:spPr>
          <a:xfrm>
            <a:off x="5142394" y="3004899"/>
            <a:ext cx="3807136" cy="1614998"/>
          </a:xfrm>
          <a:prstGeom prst="rect">
            <a:avLst/>
          </a:prstGeom>
          <a:solidFill>
            <a:srgbClr val="FFFFFF"/>
          </a:solidFill>
          <a:ln w="27432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BD36749B-34E4-702F-5E3E-A1008C7F88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08270" y="3080742"/>
            <a:ext cx="125016" cy="142875"/>
          </a:xfrm>
          <a:prstGeom prst="rect">
            <a:avLst/>
          </a:prstGeom>
        </p:spPr>
      </p:pic>
      <p:sp>
        <p:nvSpPr>
          <p:cNvPr id="11" name="Text 3">
            <a:extLst>
              <a:ext uri="{FF2B5EF4-FFF2-40B4-BE49-F238E27FC236}">
                <a16:creationId xmlns:a16="http://schemas.microsoft.com/office/drawing/2014/main" id="{86D0027B-2456-03FD-BA7D-C1334983E7B3}"/>
              </a:ext>
            </a:extLst>
          </p:cNvPr>
          <p:cNvSpPr/>
          <p:nvPr/>
        </p:nvSpPr>
        <p:spPr>
          <a:xfrm>
            <a:off x="5404723" y="3068241"/>
            <a:ext cx="181987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77B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SEASONALITY INSIGHTS</a:t>
            </a:r>
            <a:endParaRPr lang="en-US" sz="10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77C67388-C792-9041-C951-EFF0A5A60AF9}"/>
              </a:ext>
            </a:extLst>
          </p:cNvPr>
          <p:cNvSpPr/>
          <p:nvPr/>
        </p:nvSpPr>
        <p:spPr>
          <a:xfrm>
            <a:off x="5208270" y="3495973"/>
            <a:ext cx="1225153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Peak Month (Nov)</a:t>
            </a:r>
            <a:endParaRPr lang="en-US" sz="9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6C20E85D-F05E-A9E8-7418-D508EF9FFD8E}"/>
              </a:ext>
            </a:extLst>
          </p:cNvPr>
          <p:cNvSpPr/>
          <p:nvPr/>
        </p:nvSpPr>
        <p:spPr>
          <a:xfrm>
            <a:off x="7646075" y="3470077"/>
            <a:ext cx="107692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CA31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KES 973,100</a:t>
            </a:r>
            <a:endParaRPr lang="en-US" sz="12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3F8C6CAB-4B7E-A700-8620-9DCC20C84EB4}"/>
              </a:ext>
            </a:extLst>
          </p:cNvPr>
          <p:cNvSpPr/>
          <p:nvPr/>
        </p:nvSpPr>
        <p:spPr>
          <a:xfrm>
            <a:off x="5208270" y="3890665"/>
            <a:ext cx="1389459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Lowest Month (Aug)</a:t>
            </a:r>
            <a:endParaRPr lang="en-US" sz="90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F51C42F7-14BC-BE3B-DC5B-CDF19646C821}"/>
              </a:ext>
            </a:extLst>
          </p:cNvPr>
          <p:cNvSpPr/>
          <p:nvPr/>
        </p:nvSpPr>
        <p:spPr>
          <a:xfrm>
            <a:off x="7599640" y="3864769"/>
            <a:ext cx="112335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CA31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KES 563,000</a:t>
            </a:r>
            <a:endParaRPr lang="en-US" sz="12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412A8A56-5E9A-97AA-14AE-A8D2168DEA3F}"/>
              </a:ext>
            </a:extLst>
          </p:cNvPr>
          <p:cNvSpPr/>
          <p:nvPr/>
        </p:nvSpPr>
        <p:spPr>
          <a:xfrm>
            <a:off x="5208270" y="4285357"/>
            <a:ext cx="1060847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Revenue Swing</a:t>
            </a:r>
            <a:endParaRPr lang="en-US" sz="9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BAC81973-B8CC-F38C-3D8D-8CE4C07FB467}"/>
              </a:ext>
            </a:extLst>
          </p:cNvPr>
          <p:cNvSpPr/>
          <p:nvPr/>
        </p:nvSpPr>
        <p:spPr>
          <a:xfrm>
            <a:off x="7388900" y="4259461"/>
            <a:ext cx="133409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CA31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~42% Variance</a:t>
            </a:r>
            <a:endParaRPr lang="en-US" sz="1200" dirty="0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893C58DC-BDFB-92C3-6B22-7AA34FD50ABF}"/>
              </a:ext>
            </a:extLst>
          </p:cNvPr>
          <p:cNvSpPr/>
          <p:nvPr/>
        </p:nvSpPr>
        <p:spPr>
          <a:xfrm>
            <a:off x="571500" y="4807744"/>
            <a:ext cx="1885950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77B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GROUP 2 E | TEMBO HOTEL ANALYSIS</a:t>
            </a:r>
            <a:endParaRPr lang="en-US" sz="700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351257AD-6FC8-8178-56A4-0F58DDBB4234}"/>
              </a:ext>
            </a:extLst>
          </p:cNvPr>
          <p:cNvSpPr/>
          <p:nvPr/>
        </p:nvSpPr>
        <p:spPr>
          <a:xfrm>
            <a:off x="8696206" y="4720233"/>
            <a:ext cx="22681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07</a:t>
            </a:r>
            <a:endParaRPr lang="en-US" sz="1200" dirty="0"/>
          </a:p>
        </p:txBody>
      </p:sp>
      <p:graphicFrame>
        <p:nvGraphicFramePr>
          <p:cNvPr id="39" name="Diagram 38">
            <a:extLst>
              <a:ext uri="{FF2B5EF4-FFF2-40B4-BE49-F238E27FC236}">
                <a16:creationId xmlns:a16="http://schemas.microsoft.com/office/drawing/2014/main" id="{4E13CA6F-1A7D-342B-BD15-51983B8298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9931303"/>
              </p:ext>
            </p:extLst>
          </p:nvPr>
        </p:nvGraphicFramePr>
        <p:xfrm>
          <a:off x="570394" y="3335500"/>
          <a:ext cx="4130193" cy="11929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aphicFrame>
        <p:nvGraphicFramePr>
          <p:cNvPr id="38" name="Diagram 37">
            <a:extLst>
              <a:ext uri="{FF2B5EF4-FFF2-40B4-BE49-F238E27FC236}">
                <a16:creationId xmlns:a16="http://schemas.microsoft.com/office/drawing/2014/main" id="{06225641-27D9-51CD-616D-C855889976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6780579"/>
              </p:ext>
            </p:extLst>
          </p:nvPr>
        </p:nvGraphicFramePr>
        <p:xfrm>
          <a:off x="570395" y="1938728"/>
          <a:ext cx="4109938" cy="1396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sp>
        <p:nvSpPr>
          <p:cNvPr id="28" name="Text 1">
            <a:extLst>
              <a:ext uri="{FF2B5EF4-FFF2-40B4-BE49-F238E27FC236}">
                <a16:creationId xmlns:a16="http://schemas.microsoft.com/office/drawing/2014/main" id="{D968F37F-D78F-7DDB-6E53-B7B09FAF943A}"/>
              </a:ext>
            </a:extLst>
          </p:cNvPr>
          <p:cNvSpPr/>
          <p:nvPr/>
        </p:nvSpPr>
        <p:spPr>
          <a:xfrm>
            <a:off x="108334" y="3807373"/>
            <a:ext cx="4572000" cy="809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 lang="en-US" sz="1050" dirty="0">
              <a:solidFill>
                <a:srgbClr val="212529"/>
              </a:solidFill>
              <a:latin typeface="Montserrat Medium" pitchFamily="34" charset="0"/>
              <a:ea typeface="Montserrat Medium" pitchFamily="34" charset="-122"/>
              <a:cs typeface="Montserrat Medium" pitchFamily="34" charset="-120"/>
            </a:endParaRPr>
          </a:p>
          <a:p>
            <a:pPr marL="628650" lvl="1" indent="-171450">
              <a:lnSpc>
                <a:spcPct val="128000"/>
              </a:lnSpc>
              <a:buFont typeface="Wingdings" panose="05000000000000000000" pitchFamily="2" charset="2"/>
              <a:buChar char="v"/>
            </a:pPr>
            <a:endParaRPr lang="en-US" sz="1050" dirty="0">
              <a:solidFill>
                <a:srgbClr val="212529"/>
              </a:solidFill>
              <a:latin typeface="Montserrat Medium" pitchFamily="34" charset="0"/>
              <a:ea typeface="Montserrat Medium" pitchFamily="34" charset="-122"/>
              <a:cs typeface="Montserrat Medium" pitchFamily="34" charset="-120"/>
            </a:endParaRPr>
          </a:p>
          <a:p>
            <a:pPr lvl="2">
              <a:lnSpc>
                <a:spcPct val="128000"/>
              </a:lnSpc>
            </a:pPr>
            <a:endParaRPr lang="en-US" sz="1050" dirty="0"/>
          </a:p>
          <a:p>
            <a:pPr marL="628650" lvl="1" indent="-171450">
              <a:lnSpc>
                <a:spcPct val="128000"/>
              </a:lnSpc>
              <a:buFont typeface="Wingdings" panose="05000000000000000000" pitchFamily="2" charset="2"/>
              <a:buChar char="v"/>
            </a:pPr>
            <a:endParaRPr lang="en-US" sz="1050" dirty="0">
              <a:solidFill>
                <a:srgbClr val="212529"/>
              </a:solidFill>
              <a:latin typeface="Montserrat Medium" pitchFamily="34" charset="0"/>
              <a:ea typeface="Montserrat Medium" pitchFamily="34" charset="-122"/>
              <a:cs typeface="Montserrat Medium" pitchFamily="34" charset="-120"/>
            </a:endParaRPr>
          </a:p>
        </p:txBody>
      </p:sp>
      <p:sp>
        <p:nvSpPr>
          <p:cNvPr id="29" name="Shape 14">
            <a:extLst>
              <a:ext uri="{FF2B5EF4-FFF2-40B4-BE49-F238E27FC236}">
                <a16:creationId xmlns:a16="http://schemas.microsoft.com/office/drawing/2014/main" id="{D2C08936-140A-F455-8E96-41B05A1DC467}"/>
              </a:ext>
            </a:extLst>
          </p:cNvPr>
          <p:cNvSpPr/>
          <p:nvPr/>
        </p:nvSpPr>
        <p:spPr>
          <a:xfrm>
            <a:off x="6210208" y="1226820"/>
            <a:ext cx="2674517" cy="1501973"/>
          </a:xfrm>
          <a:prstGeom prst="rect">
            <a:avLst/>
          </a:prstGeom>
          <a:solidFill>
            <a:srgbClr val="FFFFFF"/>
          </a:solidFill>
          <a:ln w="27432">
            <a:solidFill>
              <a:srgbClr val="14213D"/>
            </a:solidFill>
            <a:prstDash val="solid"/>
          </a:ln>
        </p:spPr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BE3883A1-39CA-D5F9-EF0D-F55F8A9C0BCA}"/>
              </a:ext>
            </a:extLst>
          </p:cNvPr>
          <p:cNvSpPr/>
          <p:nvPr/>
        </p:nvSpPr>
        <p:spPr>
          <a:xfrm>
            <a:off x="6280954" y="1256698"/>
            <a:ext cx="2903241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BOOKINGS BY ROOM TYPE</a:t>
            </a:r>
            <a:endParaRPr lang="en-US" sz="1000" dirty="0"/>
          </a:p>
        </p:txBody>
      </p:sp>
      <p:pic>
        <p:nvPicPr>
          <p:cNvPr id="31" name="Image 1" descr="preencoded.png">
            <a:extLst>
              <a:ext uri="{FF2B5EF4-FFF2-40B4-BE49-F238E27FC236}">
                <a16:creationId xmlns:a16="http://schemas.microsoft.com/office/drawing/2014/main" id="{34F1B77F-9573-5470-67A5-94D917CC6B7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04528" y="1492510"/>
            <a:ext cx="2199030" cy="1178052"/>
          </a:xfrm>
          <a:prstGeom prst="rect">
            <a:avLst/>
          </a:prstGeom>
        </p:spPr>
      </p:pic>
      <p:sp>
        <p:nvSpPr>
          <p:cNvPr id="32" name="Shape 2">
            <a:extLst>
              <a:ext uri="{FF2B5EF4-FFF2-40B4-BE49-F238E27FC236}">
                <a16:creationId xmlns:a16="http://schemas.microsoft.com/office/drawing/2014/main" id="{1408808A-6280-E338-DDAC-E56B9D2C347F}"/>
              </a:ext>
            </a:extLst>
          </p:cNvPr>
          <p:cNvSpPr/>
          <p:nvPr/>
        </p:nvSpPr>
        <p:spPr>
          <a:xfrm>
            <a:off x="6783034" y="364628"/>
            <a:ext cx="2078831" cy="710803"/>
          </a:xfrm>
          <a:prstGeom prst="rect">
            <a:avLst/>
          </a:prstGeom>
          <a:solidFill>
            <a:srgbClr val="14213D"/>
          </a:solidFill>
          <a:ln w="27432">
            <a:solidFill>
              <a:srgbClr val="FCA311"/>
            </a:solidFill>
            <a:prstDash val="solid"/>
          </a:ln>
        </p:spPr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42F75F03-5E9F-CFF4-7406-8A5B5AEBA239}"/>
              </a:ext>
            </a:extLst>
          </p:cNvPr>
          <p:cNvSpPr/>
          <p:nvPr/>
        </p:nvSpPr>
        <p:spPr>
          <a:xfrm>
            <a:off x="6891619" y="478928"/>
            <a:ext cx="190738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TOTAL REVENUE</a:t>
            </a:r>
            <a:endParaRPr lang="en-US" sz="800" dirty="0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6376C671-F7C9-0AB2-536E-C20305A135D9}"/>
              </a:ext>
            </a:extLst>
          </p:cNvPr>
          <p:cNvSpPr/>
          <p:nvPr/>
        </p:nvSpPr>
        <p:spPr>
          <a:xfrm>
            <a:off x="6891619" y="675381"/>
            <a:ext cx="190738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FCA31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KES 8.93M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29602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060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39369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FINDINGS…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71500" y="1610916"/>
            <a:ext cx="3857625" cy="1166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lnSpc>
                <a:spcPct val="128000"/>
              </a:lnSpc>
              <a:buFont typeface="Wingdings" panose="05000000000000000000" pitchFamily="2" charset="2"/>
              <a:buChar char="v"/>
            </a:pPr>
            <a:r>
              <a:rPr lang="en-US" sz="100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 combined monthly payroll was KES 414,000 across 8 employees, </a:t>
            </a:r>
          </a:p>
          <a:p>
            <a:pPr marL="171450" indent="-171450">
              <a:lnSpc>
                <a:spcPct val="128000"/>
              </a:lnSpc>
              <a:buFont typeface="Wingdings" panose="05000000000000000000" pitchFamily="2" charset="2"/>
              <a:buChar char="v"/>
            </a:pPr>
            <a:r>
              <a:rPr lang="en-US" sz="100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staff performance varies significantly. </a:t>
            </a:r>
          </a:p>
          <a:p>
            <a:pPr marL="628650" lvl="1" indent="-171450">
              <a:lnSpc>
                <a:spcPct val="128000"/>
              </a:lnSpc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 top three revenue-generating staff collectively contributed over KES 3.77M</a:t>
            </a:r>
          </a:p>
          <a:p>
            <a:pPr marL="628650" lvl="1" indent="-171450">
              <a:lnSpc>
                <a:spcPct val="128000"/>
              </a:lnSpc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This is nearly 42% of total hotel revenue.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71500" y="2968228"/>
            <a:ext cx="3857625" cy="1753791"/>
          </a:xfrm>
          <a:prstGeom prst="rect">
            <a:avLst/>
          </a:prstGeom>
          <a:solidFill>
            <a:srgbClr val="14213D"/>
          </a:solidFill>
          <a:ln w="27432">
            <a:solidFill>
              <a:srgbClr val="FCA31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5813" y="3182541"/>
            <a:ext cx="3429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TOTAL MONTHLY PAYROLL (8 STAFF)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85813" y="3411141"/>
            <a:ext cx="34290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FCA31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KES 414,000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785813" y="3936206"/>
            <a:ext cx="3429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E9ECE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Performance-based incentives could unlock further revenue growth, especially since the highest-rated employee is paid the highest.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714875" y="1455420"/>
            <a:ext cx="3857625" cy="3370183"/>
          </a:xfrm>
          <a:prstGeom prst="rect">
            <a:avLst/>
          </a:prstGeom>
          <a:solidFill>
            <a:srgbClr val="FFFFFF"/>
          </a:solidFill>
          <a:ln w="27432">
            <a:solidFill>
              <a:srgbClr val="1421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29188" y="1825228"/>
            <a:ext cx="3429000" cy="344686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7B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TOP 3 REVENUE-GENERATING STAFF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29188" y="2477095"/>
            <a:ext cx="128587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JOYCE OTIENO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215063" y="2384227"/>
            <a:ext cx="2143125" cy="342900"/>
          </a:xfrm>
          <a:prstGeom prst="rect">
            <a:avLst/>
          </a:prstGeom>
          <a:solidFill>
            <a:srgbClr val="E9ECEF"/>
          </a:solidFill>
          <a:ln w="18288">
            <a:solidFill>
              <a:srgbClr val="1421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5063" y="2384227"/>
            <a:ext cx="2143125" cy="342900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14" name="Text 11"/>
          <p:cNvSpPr/>
          <p:nvPr/>
        </p:nvSpPr>
        <p:spPr>
          <a:xfrm>
            <a:off x="6215063" y="2384227"/>
            <a:ext cx="2143125" cy="342900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KES 1.37M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929188" y="2998589"/>
            <a:ext cx="128587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BRENDA ACHIENG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215063" y="2905720"/>
            <a:ext cx="2143125" cy="342900"/>
          </a:xfrm>
          <a:prstGeom prst="rect">
            <a:avLst/>
          </a:prstGeom>
          <a:solidFill>
            <a:srgbClr val="E9ECEF"/>
          </a:solidFill>
          <a:ln w="18288">
            <a:solidFill>
              <a:srgbClr val="14213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15063" y="2905720"/>
            <a:ext cx="2001673" cy="3429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8" name="Text 15"/>
          <p:cNvSpPr/>
          <p:nvPr/>
        </p:nvSpPr>
        <p:spPr>
          <a:xfrm>
            <a:off x="6215063" y="2905720"/>
            <a:ext cx="2001673" cy="342900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KES 1.28M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929188" y="3520083"/>
            <a:ext cx="128587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FATUMA HASSAN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215063" y="3427214"/>
            <a:ext cx="2143125" cy="342900"/>
          </a:xfrm>
          <a:prstGeom prst="rect">
            <a:avLst/>
          </a:prstGeom>
          <a:solidFill>
            <a:srgbClr val="E9ECEF"/>
          </a:solidFill>
          <a:ln w="18288">
            <a:solidFill>
              <a:srgbClr val="14213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15063" y="3427214"/>
            <a:ext cx="1750916" cy="3429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22" name="Text 19"/>
          <p:cNvSpPr/>
          <p:nvPr/>
        </p:nvSpPr>
        <p:spPr>
          <a:xfrm>
            <a:off x="6215063" y="3427214"/>
            <a:ext cx="1750916" cy="342900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KES 1.12M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929188" y="3948708"/>
            <a:ext cx="3429000" cy="80010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24" name="Shape 21"/>
          <p:cNvSpPr/>
          <p:nvPr/>
        </p:nvSpPr>
        <p:spPr>
          <a:xfrm>
            <a:off x="4929188" y="3948708"/>
            <a:ext cx="57150" cy="8001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5" name="Text 22"/>
          <p:cNvSpPr/>
          <p:nvPr/>
        </p:nvSpPr>
        <p:spPr>
          <a:xfrm>
            <a:off x="4929188" y="3948708"/>
            <a:ext cx="3429000" cy="80010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RISK IDENTIFIED:</a:t>
            </a:r>
            <a:r>
              <a:rPr lang="en-US" sz="850" dirty="0">
                <a:solidFill>
                  <a:srgbClr val="14213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Heavy reliance on a few top performers creates significant revenue concentration risk if they leave the organization.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71500" y="4943594"/>
            <a:ext cx="1885950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77B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GROUP 2 E | TEMBO HOTEL ANALYSIS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8340328" y="4894183"/>
            <a:ext cx="232172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143875" cy="36292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FINDINGS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571500" y="1452548"/>
            <a:ext cx="3971925" cy="3296450"/>
          </a:xfrm>
          <a:prstGeom prst="rect">
            <a:avLst/>
          </a:prstGeom>
          <a:solidFill>
            <a:srgbClr val="FFFFFF"/>
          </a:solidFill>
          <a:ln w="27432">
            <a:solidFill>
              <a:srgbClr val="14213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4375" y="1639491"/>
            <a:ext cx="36861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REVENUE BY PAYMENT METHOD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14375" y="1869877"/>
            <a:ext cx="36861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Revenue is distributed relatively evenly across four payment methods, suggesting no single channel dependency.</a:t>
            </a:r>
            <a:endParaRPr lang="en-US" sz="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234208"/>
            <a:ext cx="3629025" cy="235743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743450" y="1452548"/>
            <a:ext cx="3971925" cy="3296450"/>
          </a:xfrm>
          <a:prstGeom prst="rect">
            <a:avLst/>
          </a:prstGeom>
          <a:solidFill>
            <a:srgbClr val="FFFFFF"/>
          </a:solidFill>
          <a:ln w="27432">
            <a:solidFill>
              <a:srgbClr val="14213D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394" y="1696641"/>
            <a:ext cx="300038" cy="4000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49738" y="2210991"/>
            <a:ext cx="335934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GEOGRAPHIC CONCENTRATION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4943475" y="2539603"/>
            <a:ext cx="357187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Guest origin data reveals a heavy concentration from </a:t>
            </a:r>
            <a:r>
              <a:rPr lang="en-US" sz="1000" b="1" dirty="0">
                <a:solidFill>
                  <a:srgbClr val="212529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Nairobi</a:t>
            </a:r>
            <a:r>
              <a:rPr lang="en-US" sz="10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, with secondary cities like Thika making up a much smaller portion of the customer base.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4943475" y="3539728"/>
            <a:ext cx="3571875" cy="99616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3" name="Shape 8"/>
          <p:cNvSpPr/>
          <p:nvPr/>
        </p:nvSpPr>
        <p:spPr>
          <a:xfrm>
            <a:off x="4943475" y="4478741"/>
            <a:ext cx="3571875" cy="57150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14" name="Text 9"/>
          <p:cNvSpPr/>
          <p:nvPr/>
        </p:nvSpPr>
        <p:spPr>
          <a:xfrm>
            <a:off x="5057775" y="3709783"/>
            <a:ext cx="33432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CA31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THE RISK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5057775" y="3940169"/>
            <a:ext cx="33432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Over-reliance on a single city creates vulnerability to local economic shifts. Geographic diversification is needed to ensure long-term stability.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571500" y="4850606"/>
            <a:ext cx="1885950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77B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GROUP 2 E | TEMBO HOTEL ANALYSIS</a:t>
            </a:r>
            <a:endParaRPr lang="en-US" sz="700" dirty="0"/>
          </a:p>
        </p:txBody>
      </p:sp>
      <p:sp>
        <p:nvSpPr>
          <p:cNvPr id="17" name="Text 12"/>
          <p:cNvSpPr/>
          <p:nvPr/>
        </p:nvSpPr>
        <p:spPr>
          <a:xfrm>
            <a:off x="8343900" y="4763095"/>
            <a:ext cx="22860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5691783" cy="44112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KEY INSIGHTS: WHAT THE DATA REVEALS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1500" y="1155502"/>
            <a:ext cx="7858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Synthesizing the findings across revenue, rooms, staff, and guest data reveals six interconnected patterns that define Tembo Hotel's current performance landscape.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741289"/>
            <a:ext cx="2590781" cy="1207294"/>
          </a:xfrm>
          <a:prstGeom prst="rect">
            <a:avLst/>
          </a:prstGeom>
          <a:solidFill>
            <a:srgbClr val="FFFFFF"/>
          </a:solidFill>
          <a:ln w="27432">
            <a:solidFill>
              <a:srgbClr val="1421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71500" y="1741289"/>
            <a:ext cx="2533603" cy="57150"/>
          </a:xfrm>
          <a:prstGeom prst="rect">
            <a:avLst/>
          </a:prstGeom>
          <a:solidFill>
            <a:srgbClr val="0077B6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1862733"/>
            <a:ext cx="28575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8700" y="1891308"/>
            <a:ext cx="176093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NAIROBI DEPENDENCY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57225" y="2177058"/>
            <a:ext cx="241933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Over-reliance on a single city for guest sourcing creates significant geographic market vulnerability.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3276581" y="1741289"/>
            <a:ext cx="2590809" cy="1207294"/>
          </a:xfrm>
          <a:prstGeom prst="rect">
            <a:avLst/>
          </a:prstGeom>
          <a:solidFill>
            <a:srgbClr val="FFFFFF"/>
          </a:solidFill>
          <a:ln w="27432">
            <a:solidFill>
              <a:srgbClr val="14213D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276581" y="1741289"/>
            <a:ext cx="2533659" cy="57150"/>
          </a:xfrm>
          <a:prstGeom prst="rect">
            <a:avLst/>
          </a:prstGeom>
          <a:solidFill>
            <a:srgbClr val="FCA311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2306" y="1919883"/>
            <a:ext cx="28575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33781" y="1862733"/>
            <a:ext cx="20478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LUXURY UNDERPERFORMANCE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3362306" y="2291358"/>
            <a:ext cx="241935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Demand is heavily skewed toward affordable Standard rooms; Penthouse sits at only 8.8% occupancy.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5981691" y="1741289"/>
            <a:ext cx="2590781" cy="1207294"/>
          </a:xfrm>
          <a:prstGeom prst="rect">
            <a:avLst/>
          </a:prstGeom>
          <a:solidFill>
            <a:srgbClr val="FFFFFF"/>
          </a:solidFill>
          <a:ln w="27432">
            <a:solidFill>
              <a:srgbClr val="14213D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981691" y="1741289"/>
            <a:ext cx="2533603" cy="57150"/>
          </a:xfrm>
          <a:prstGeom prst="rect">
            <a:avLst/>
          </a:prstGeom>
          <a:solidFill>
            <a:srgbClr val="0077B6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7416" y="1919883"/>
            <a:ext cx="261472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14613" y="1862733"/>
            <a:ext cx="20721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PENTHOUSE CANCELLATIONS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6067416" y="2291358"/>
            <a:ext cx="241933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 severe 20% cancellation rate for Penthouses compared to just 3.6% for Suites.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571500" y="3005733"/>
            <a:ext cx="2590781" cy="1207294"/>
          </a:xfrm>
          <a:prstGeom prst="rect">
            <a:avLst/>
          </a:prstGeom>
          <a:solidFill>
            <a:srgbClr val="FFFFFF"/>
          </a:solidFill>
          <a:ln w="27432">
            <a:solidFill>
              <a:srgbClr val="14213D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71500" y="3005733"/>
            <a:ext cx="2533603" cy="57150"/>
          </a:xfrm>
          <a:prstGeom prst="rect">
            <a:avLst/>
          </a:prstGeom>
          <a:solidFill>
            <a:srgbClr val="FCA311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3184327"/>
            <a:ext cx="255556" cy="228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98506" y="3127177"/>
            <a:ext cx="2078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RETURN CUSTOMER RELIANCE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657225" y="3555802"/>
            <a:ext cx="241933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Majority of bookings come from repeat guests, indicating weak new customer acquisition channels.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3276581" y="3005733"/>
            <a:ext cx="2590809" cy="1207294"/>
          </a:xfrm>
          <a:prstGeom prst="rect">
            <a:avLst/>
          </a:prstGeom>
          <a:solidFill>
            <a:srgbClr val="FFFFFF"/>
          </a:solidFill>
          <a:ln w="27432">
            <a:solidFill>
              <a:srgbClr val="14213D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3276581" y="3005733"/>
            <a:ext cx="2533659" cy="57150"/>
          </a:xfrm>
          <a:prstGeom prst="rect">
            <a:avLst/>
          </a:prstGeom>
          <a:solidFill>
            <a:srgbClr val="0077B6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2306" y="3127177"/>
            <a:ext cx="285750" cy="2286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733781" y="3155752"/>
            <a:ext cx="128944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THE RATING GAP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3362306" y="3441502"/>
            <a:ext cx="2419359" cy="460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Average rating of 3.04/6 is above average but well below competitive hospitality benchmarks.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5981691" y="3005733"/>
            <a:ext cx="2590781" cy="1207294"/>
          </a:xfrm>
          <a:prstGeom prst="rect">
            <a:avLst/>
          </a:prstGeom>
          <a:solidFill>
            <a:srgbClr val="FFFFFF"/>
          </a:solidFill>
          <a:ln w="27432">
            <a:solidFill>
              <a:srgbClr val="14213D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5981691" y="3005733"/>
            <a:ext cx="2533603" cy="57150"/>
          </a:xfrm>
          <a:prstGeom prst="rect">
            <a:avLst/>
          </a:prstGeom>
          <a:solidFill>
            <a:srgbClr val="FCA311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67416" y="3184327"/>
            <a:ext cx="279890" cy="22860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33031" y="3127177"/>
            <a:ext cx="20537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REVENUE CONCENTRATION</a:t>
            </a:r>
            <a:endParaRPr lang="en-US" sz="1000" dirty="0"/>
          </a:p>
        </p:txBody>
      </p:sp>
      <p:sp>
        <p:nvSpPr>
          <p:cNvPr id="34" name="Text 25"/>
          <p:cNvSpPr/>
          <p:nvPr/>
        </p:nvSpPr>
        <p:spPr>
          <a:xfrm>
            <a:off x="6067416" y="3555802"/>
            <a:ext cx="241933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Top 3 staff generate a disproportionate share of revenue; a major risk if they depart.</a:t>
            </a:r>
            <a:endParaRPr lang="en-US" sz="850" dirty="0"/>
          </a:p>
        </p:txBody>
      </p:sp>
      <p:sp>
        <p:nvSpPr>
          <p:cNvPr id="35" name="Text 26"/>
          <p:cNvSpPr/>
          <p:nvPr/>
        </p:nvSpPr>
        <p:spPr>
          <a:xfrm>
            <a:off x="571500" y="4807744"/>
            <a:ext cx="1885950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77B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GROUP 2 E | TEMBO HOTEL ANALYSIS</a:t>
            </a:r>
            <a:endParaRPr lang="en-US" sz="700" dirty="0"/>
          </a:p>
        </p:txBody>
      </p:sp>
      <p:sp>
        <p:nvSpPr>
          <p:cNvPr id="36" name="Text 27"/>
          <p:cNvSpPr/>
          <p:nvPr/>
        </p:nvSpPr>
        <p:spPr>
          <a:xfrm>
            <a:off x="8384977" y="4720233"/>
            <a:ext cx="18752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1500"/>
            <a:ext cx="8074223" cy="328551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STRATEGIC RECOMMENDATIONS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28625" y="1069777"/>
            <a:ext cx="78581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Based on the data, the prioritized recommendations address revenue leakage, geographic concentration, guest satisfaction, and operations.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28625" y="1569839"/>
            <a:ext cx="8286750" cy="2710160"/>
          </a:xfrm>
          <a:prstGeom prst="rect">
            <a:avLst/>
          </a:prstGeom>
          <a:solidFill>
            <a:srgbClr val="FFFFFF"/>
          </a:solidFill>
          <a:ln w="18288">
            <a:solidFill>
              <a:srgbClr val="1421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8625" y="1569839"/>
            <a:ext cx="1243013" cy="271463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1569839"/>
            <a:ext cx="1243013" cy="271463"/>
          </a:xfrm>
          <a:prstGeom prst="rect">
            <a:avLst/>
          </a:prstGeom>
          <a:noFill/>
          <a:ln/>
        </p:spPr>
        <p:txBody>
          <a:bodyPr wrap="none" lIns="102108" tIns="68072" rIns="102108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PRIORITY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671638" y="1569839"/>
            <a:ext cx="3729038" cy="271463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9" name="Text 6"/>
          <p:cNvSpPr/>
          <p:nvPr/>
        </p:nvSpPr>
        <p:spPr>
          <a:xfrm>
            <a:off x="1671638" y="1569839"/>
            <a:ext cx="3729038" cy="27146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STRATEGIC ACTION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00675" y="1569839"/>
            <a:ext cx="3314700" cy="271463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1" name="Text 8"/>
          <p:cNvSpPr/>
          <p:nvPr/>
        </p:nvSpPr>
        <p:spPr>
          <a:xfrm>
            <a:off x="5400675" y="1569839"/>
            <a:ext cx="3314700" cy="27146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TARGETED OUTCOME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14350" y="1898452"/>
            <a:ext cx="571500" cy="177143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13" name="Text 10"/>
          <p:cNvSpPr/>
          <p:nvPr/>
        </p:nvSpPr>
        <p:spPr>
          <a:xfrm>
            <a:off x="514350" y="1898452"/>
            <a:ext cx="571500" cy="17714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HIGH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757363" y="1916646"/>
            <a:ext cx="99119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212529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Staff Incentives: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748558" y="1916646"/>
            <a:ext cx="179486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Tie incentives to guest ratings.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400675" y="1841302"/>
            <a:ext cx="3314700" cy="29501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Raise avg rating to 4.0+.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14350" y="2197038"/>
            <a:ext cx="571500" cy="177143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18" name="Text 15"/>
          <p:cNvSpPr/>
          <p:nvPr/>
        </p:nvSpPr>
        <p:spPr>
          <a:xfrm>
            <a:off x="514350" y="2197038"/>
            <a:ext cx="571500" cy="17714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HIGH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1757363" y="2215232"/>
            <a:ext cx="9894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212529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Peak Readiness: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746772" y="2215232"/>
            <a:ext cx="183237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Staff &amp; inventory for Nov peaks.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400675" y="2136316"/>
            <a:ext cx="3314700" cy="298586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Capture peak-month revenue.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14350" y="2495624"/>
            <a:ext cx="571500" cy="177143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23" name="Text 20"/>
          <p:cNvSpPr/>
          <p:nvPr/>
        </p:nvSpPr>
        <p:spPr>
          <a:xfrm>
            <a:off x="514350" y="2495624"/>
            <a:ext cx="571500" cy="17714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HIGH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757363" y="2513819"/>
            <a:ext cx="11680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212529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Penthouse Review: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925366" y="2513819"/>
            <a:ext cx="181272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Adjust pricing &amp; booking rules.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400675" y="2434903"/>
            <a:ext cx="3314700" cy="298586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Reduce 20% cancellations.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14350" y="2794211"/>
            <a:ext cx="571500" cy="177143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28" name="Text 25"/>
          <p:cNvSpPr/>
          <p:nvPr/>
        </p:nvSpPr>
        <p:spPr>
          <a:xfrm>
            <a:off x="514350" y="2794211"/>
            <a:ext cx="571500" cy="17714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HIGH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1757363" y="2812405"/>
            <a:ext cx="94833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212529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Geo-Expansion: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2705695" y="2812405"/>
            <a:ext cx="18752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Market to cities beyond Nairobi.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400675" y="2733489"/>
            <a:ext cx="3314700" cy="298586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Diversify guest origin.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14350" y="3092797"/>
            <a:ext cx="571500" cy="177143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3" name="Text 30"/>
          <p:cNvSpPr/>
          <p:nvPr/>
        </p:nvSpPr>
        <p:spPr>
          <a:xfrm>
            <a:off x="514350" y="3092797"/>
            <a:ext cx="571500" cy="17714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MEDIUM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757363" y="3110992"/>
            <a:ext cx="103763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212529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Loyalty Program: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2794992" y="3110992"/>
            <a:ext cx="190916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Launch a repeat-guest program.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400675" y="3032075"/>
            <a:ext cx="3314700" cy="298586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Improve retention.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514350" y="3391384"/>
            <a:ext cx="571500" cy="177143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8" name="Text 35"/>
          <p:cNvSpPr/>
          <p:nvPr/>
        </p:nvSpPr>
        <p:spPr>
          <a:xfrm>
            <a:off x="514350" y="3391384"/>
            <a:ext cx="571500" cy="17714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MEDIUM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1757363" y="3409578"/>
            <a:ext cx="113764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212529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Room Promotions: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2895005" y="3409578"/>
            <a:ext cx="145911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Push Standard &amp; Deluxe.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5400675" y="3330662"/>
            <a:ext cx="3314700" cy="298586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Increase volume in top categories.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514350" y="3689970"/>
            <a:ext cx="571500" cy="177143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3" name="Text 40"/>
          <p:cNvSpPr/>
          <p:nvPr/>
        </p:nvSpPr>
        <p:spPr>
          <a:xfrm>
            <a:off x="514350" y="3689970"/>
            <a:ext cx="571500" cy="17714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MEDIUM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757363" y="3708164"/>
            <a:ext cx="110192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212529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Guest Experience: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2859286" y="3708164"/>
            <a:ext cx="172343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Enhance service &amp; amenities.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5400675" y="3629248"/>
            <a:ext cx="3314700" cy="298586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Boost ratings &amp; positive reviews.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514350" y="3988557"/>
            <a:ext cx="571500" cy="205718"/>
          </a:xfrm>
          <a:prstGeom prst="rect">
            <a:avLst/>
          </a:prstGeom>
          <a:solidFill>
            <a:srgbClr val="E9ECEF"/>
          </a:solidFill>
          <a:ln w="18288">
            <a:solidFill>
              <a:srgbClr val="14213D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14350" y="3988557"/>
            <a:ext cx="571500" cy="20571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LOW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1757363" y="4006751"/>
            <a:ext cx="114478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212529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Capacity Planning: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2902148" y="4006751"/>
            <a:ext cx="18145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Reassess Penthouse inventory.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5400675" y="3927835"/>
            <a:ext cx="3314700" cy="29501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Meet potential luxury demand.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428625" y="4807744"/>
            <a:ext cx="1885950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77B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GROUP 2 E | TEMBO HOTEL ANALYSIS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8576072" y="4720233"/>
            <a:ext cx="13930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1500"/>
            <a:ext cx="8286750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428625" y="1339453"/>
            <a:ext cx="8286750" cy="13716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2653903"/>
            <a:ext cx="8286750" cy="57150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6" name="Text 3"/>
          <p:cNvSpPr/>
          <p:nvPr/>
        </p:nvSpPr>
        <p:spPr>
          <a:xfrm>
            <a:off x="600075" y="1510903"/>
            <a:ext cx="79438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A31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MOVING FORWARD WITH CONFIDENCE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57313" y="1839516"/>
            <a:ext cx="64293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E9ECE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Tembo Hotel has a solid revenue base (KES 8.93M) but faces clear challenges in cancellations, guest ratings, and luxury-room performance. Prioritized, data-driven actions will reduce losses and build resilience.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28625" y="2925366"/>
            <a:ext cx="82867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FINAL TAKEAWAYS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8625" y="3220045"/>
            <a:ext cx="2676506" cy="1283001"/>
          </a:xfrm>
          <a:prstGeom prst="rect">
            <a:avLst/>
          </a:prstGeom>
          <a:solidFill>
            <a:srgbClr val="FFFFFF"/>
          </a:solidFill>
          <a:ln w="27432">
            <a:solidFill>
              <a:srgbClr val="14213D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6859" y="3348633"/>
            <a:ext cx="300038" cy="3429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213" y="3777258"/>
            <a:ext cx="241933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Clean data is the foundation of reliable decisions.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233719" y="3220045"/>
            <a:ext cx="2676534" cy="1283001"/>
          </a:xfrm>
          <a:prstGeom prst="rect">
            <a:avLst/>
          </a:prstGeom>
          <a:solidFill>
            <a:srgbClr val="FFFFFF"/>
          </a:solidFill>
          <a:ln w="27432">
            <a:solidFill>
              <a:srgbClr val="14213D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091" y="3348633"/>
            <a:ext cx="385763" cy="3429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62306" y="3777258"/>
            <a:ext cx="2419359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Grow revenue by retaining customers and targeting new segments.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6038841" y="3220045"/>
            <a:ext cx="2676506" cy="1225851"/>
          </a:xfrm>
          <a:prstGeom prst="rect">
            <a:avLst/>
          </a:prstGeom>
          <a:solidFill>
            <a:srgbClr val="FFFFFF"/>
          </a:solidFill>
          <a:ln w="27432">
            <a:solidFill>
              <a:srgbClr val="14213D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8506" y="3348633"/>
            <a:ext cx="257175" cy="3429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67428" y="3777258"/>
            <a:ext cx="241933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Invest strategically in staff, rooms, and targeted marketing.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428625" y="4807744"/>
            <a:ext cx="3582591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77B6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PRESENTED BY GROUP 2 E | TEMBO HOTEL PERFORMANCE ANALYSIS</a:t>
            </a:r>
            <a:endParaRPr lang="en-US" sz="700" dirty="0"/>
          </a:p>
        </p:txBody>
      </p:sp>
      <p:sp>
        <p:nvSpPr>
          <p:cNvPr id="19" name="Text 13"/>
          <p:cNvSpPr/>
          <p:nvPr/>
        </p:nvSpPr>
        <p:spPr>
          <a:xfrm>
            <a:off x="8542139" y="4720233"/>
            <a:ext cx="173236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13D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TM02900720[[fn=Integral]]</Template>
  <TotalTime>310</TotalTime>
  <Words>1227</Words>
  <Application>Microsoft Office PowerPoint</Application>
  <PresentationFormat>On-screen Show (16:9)</PresentationFormat>
  <Paragraphs>235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monospace</vt:lpstr>
      <vt:lpstr>Montserrat ExtraBold</vt:lpstr>
      <vt:lpstr>Montserrat Medium</vt:lpstr>
      <vt:lpstr>Tw Cen MT</vt:lpstr>
      <vt:lpstr>Tw Cen MT Condensed</vt:lpstr>
      <vt:lpstr>Wingdings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Cohort  Seven</cp:lastModifiedBy>
  <cp:revision>6</cp:revision>
  <dcterms:created xsi:type="dcterms:W3CDTF">2026-05-03T09:07:14Z</dcterms:created>
  <dcterms:modified xsi:type="dcterms:W3CDTF">2026-05-03T14:18:46Z</dcterms:modified>
</cp:coreProperties>
</file>